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3"/>
  </p:notesMasterIdLst>
  <p:handoutMasterIdLst>
    <p:handoutMasterId r:id="rId4"/>
  </p:handoutMasterIdLst>
  <p:sldIdLst>
    <p:sldId id="256" r:id="rId2"/>
  </p:sldIdLst>
  <p:sldSz cx="43891200" cy="32918400"/>
  <p:notesSz cx="6858000" cy="9144000"/>
  <p:defaultTextStyle>
    <a:defPPr>
      <a:defRPr lang="en-US"/>
    </a:defPPr>
    <a:lvl1pPr algn="l" defTabSz="2193857" rtl="0" fontAlgn="base">
      <a:spcBef>
        <a:spcPct val="0"/>
      </a:spcBef>
      <a:spcAft>
        <a:spcPct val="0"/>
      </a:spcAft>
      <a:defRPr kern="1200">
        <a:solidFill>
          <a:schemeClr val="tx1"/>
        </a:solidFill>
        <a:latin typeface="Arial" charset="0"/>
        <a:ea typeface="ＭＳ Ｐゴシック" pitchFamily="34" charset="-128"/>
        <a:cs typeface="+mn-cs"/>
      </a:defRPr>
    </a:lvl1pPr>
    <a:lvl2pPr marL="2193857" algn="l" defTabSz="2193857" rtl="0" fontAlgn="base">
      <a:spcBef>
        <a:spcPct val="0"/>
      </a:spcBef>
      <a:spcAft>
        <a:spcPct val="0"/>
      </a:spcAft>
      <a:defRPr kern="1200">
        <a:solidFill>
          <a:schemeClr val="tx1"/>
        </a:solidFill>
        <a:latin typeface="Arial" charset="0"/>
        <a:ea typeface="ＭＳ Ｐゴシック" pitchFamily="34" charset="-128"/>
        <a:cs typeface="+mn-cs"/>
      </a:defRPr>
    </a:lvl2pPr>
    <a:lvl3pPr marL="4387712" algn="l" defTabSz="2193857" rtl="0" fontAlgn="base">
      <a:spcBef>
        <a:spcPct val="0"/>
      </a:spcBef>
      <a:spcAft>
        <a:spcPct val="0"/>
      </a:spcAft>
      <a:defRPr kern="1200">
        <a:solidFill>
          <a:schemeClr val="tx1"/>
        </a:solidFill>
        <a:latin typeface="Arial" charset="0"/>
        <a:ea typeface="ＭＳ Ｐゴシック" pitchFamily="34" charset="-128"/>
        <a:cs typeface="+mn-cs"/>
      </a:defRPr>
    </a:lvl3pPr>
    <a:lvl4pPr marL="6581567" algn="l" defTabSz="2193857" rtl="0" fontAlgn="base">
      <a:spcBef>
        <a:spcPct val="0"/>
      </a:spcBef>
      <a:spcAft>
        <a:spcPct val="0"/>
      </a:spcAft>
      <a:defRPr kern="1200">
        <a:solidFill>
          <a:schemeClr val="tx1"/>
        </a:solidFill>
        <a:latin typeface="Arial" charset="0"/>
        <a:ea typeface="ＭＳ Ｐゴシック" pitchFamily="34" charset="-128"/>
        <a:cs typeface="+mn-cs"/>
      </a:defRPr>
    </a:lvl4pPr>
    <a:lvl5pPr marL="8775428" algn="l" defTabSz="2193857" rtl="0" fontAlgn="base">
      <a:spcBef>
        <a:spcPct val="0"/>
      </a:spcBef>
      <a:spcAft>
        <a:spcPct val="0"/>
      </a:spcAft>
      <a:defRPr kern="1200">
        <a:solidFill>
          <a:schemeClr val="tx1"/>
        </a:solidFill>
        <a:latin typeface="Arial" charset="0"/>
        <a:ea typeface="ＭＳ Ｐゴシック" pitchFamily="34" charset="-128"/>
        <a:cs typeface="+mn-cs"/>
      </a:defRPr>
    </a:lvl5pPr>
    <a:lvl6pPr marL="10969287" algn="l" defTabSz="4387712" rtl="0" eaLnBrk="1" latinLnBrk="0" hangingPunct="1">
      <a:defRPr kern="1200">
        <a:solidFill>
          <a:schemeClr val="tx1"/>
        </a:solidFill>
        <a:latin typeface="Arial" charset="0"/>
        <a:ea typeface="ＭＳ Ｐゴシック" pitchFamily="34" charset="-128"/>
        <a:cs typeface="+mn-cs"/>
      </a:defRPr>
    </a:lvl6pPr>
    <a:lvl7pPr marL="13163142" algn="l" defTabSz="4387712" rtl="0" eaLnBrk="1" latinLnBrk="0" hangingPunct="1">
      <a:defRPr kern="1200">
        <a:solidFill>
          <a:schemeClr val="tx1"/>
        </a:solidFill>
        <a:latin typeface="Arial" charset="0"/>
        <a:ea typeface="ＭＳ Ｐゴシック" pitchFamily="34" charset="-128"/>
        <a:cs typeface="+mn-cs"/>
      </a:defRPr>
    </a:lvl7pPr>
    <a:lvl8pPr marL="15356998" algn="l" defTabSz="4387712" rtl="0" eaLnBrk="1" latinLnBrk="0" hangingPunct="1">
      <a:defRPr kern="1200">
        <a:solidFill>
          <a:schemeClr val="tx1"/>
        </a:solidFill>
        <a:latin typeface="Arial" charset="0"/>
        <a:ea typeface="ＭＳ Ｐゴシック" pitchFamily="34" charset="-128"/>
        <a:cs typeface="+mn-cs"/>
      </a:defRPr>
    </a:lvl8pPr>
    <a:lvl9pPr marL="17550855" algn="l" defTabSz="4387712"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4F6F"/>
    <a:srgbClr val="17375E"/>
    <a:srgbClr val="FF3737"/>
    <a:srgbClr val="160C14"/>
    <a:srgbClr val="BCCFE6"/>
    <a:srgbClr val="C41230"/>
    <a:srgbClr val="AC2B37"/>
    <a:srgbClr val="B53443"/>
    <a:srgbClr val="FAAA47"/>
    <a:srgbClr val="4B64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autoAdjust="0"/>
  </p:normalViewPr>
  <p:slideViewPr>
    <p:cSldViewPr snapToGrid="0" snapToObjects="1">
      <p:cViewPr varScale="1">
        <p:scale>
          <a:sx n="16" d="100"/>
          <a:sy n="16" d="100"/>
        </p:scale>
        <p:origin x="1666" y="96"/>
      </p:cViewPr>
      <p:guideLst>
        <p:guide orient="horz" pos="10368"/>
        <p:guide pos="13824"/>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3" d="100"/>
          <a:sy n="83" d="100"/>
        </p:scale>
        <p:origin x="3132" y="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61186C1-2136-4F5C-81C5-7E7D5B4818E4}" type="datetimeFigureOut">
              <a:rPr lang="en-US" smtClean="0"/>
              <a:t>4/7/2026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524E169-9EE6-400B-8489-6CA7AC8B5725}" type="slidenum">
              <a:rPr lang="en-US" smtClean="0"/>
              <a:t>‹#›</a:t>
            </a:fld>
            <a:endParaRPr lang="en-US"/>
          </a:p>
        </p:txBody>
      </p:sp>
    </p:spTree>
    <p:extLst>
      <p:ext uri="{BB962C8B-B14F-4D97-AF65-F5344CB8AC3E}">
        <p14:creationId xmlns:p14="http://schemas.microsoft.com/office/powerpoint/2010/main" val="13430154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111" charset="0"/>
                <a:ea typeface="ＭＳ Ｐゴシック" pitchFamily="-111" charset="-128"/>
                <a:cs typeface="ＭＳ Ｐゴシック" pitchFamily="-111"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111" charset="0"/>
                <a:ea typeface="ＭＳ Ｐゴシック" pitchFamily="-111" charset="-128"/>
                <a:cs typeface="ＭＳ Ｐゴシック" pitchFamily="-111" charset="-128"/>
              </a:defRPr>
            </a:lvl1pPr>
          </a:lstStyle>
          <a:p>
            <a:pPr>
              <a:defRPr/>
            </a:pPr>
            <a:fld id="{5CED8F03-33F9-49DD-B78E-DE1AC6832885}" type="datetimeFigureOut">
              <a:rPr lang="en-US"/>
              <a:pPr>
                <a:defRPr/>
              </a:pPr>
              <a:t>4/7/2026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111" charset="0"/>
                <a:ea typeface="ＭＳ Ｐゴシック" pitchFamily="-111" charset="-128"/>
                <a:cs typeface="ＭＳ Ｐゴシック" pitchFamily="-111"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111" charset="0"/>
                <a:ea typeface="ＭＳ Ｐゴシック" pitchFamily="-111" charset="-128"/>
                <a:cs typeface="ＭＳ Ｐゴシック" pitchFamily="-111" charset="-128"/>
              </a:defRPr>
            </a:lvl1pPr>
          </a:lstStyle>
          <a:p>
            <a:pPr>
              <a:defRPr/>
            </a:pPr>
            <a:fld id="{E535B096-6CBE-4AB3-9529-5688244F2DCE}" type="slidenum">
              <a:rPr lang="en-US"/>
              <a:pPr>
                <a:defRPr/>
              </a:pPr>
              <a:t>‹#›</a:t>
            </a:fld>
            <a:endParaRPr lang="en-US"/>
          </a:p>
        </p:txBody>
      </p:sp>
    </p:spTree>
    <p:extLst>
      <p:ext uri="{BB962C8B-B14F-4D97-AF65-F5344CB8AC3E}">
        <p14:creationId xmlns:p14="http://schemas.microsoft.com/office/powerpoint/2010/main" val="151204090"/>
      </p:ext>
    </p:extLst>
  </p:cSld>
  <p:clrMap bg1="lt1" tx1="dk1" bg2="lt2" tx2="dk2" accent1="accent1" accent2="accent2" accent3="accent3" accent4="accent4" accent5="accent5" accent6="accent6" hlink="hlink" folHlink="folHlink"/>
  <p:notesStyle>
    <a:lvl1pPr algn="l" defTabSz="2193857" rtl="0" eaLnBrk="0" fontAlgn="base" hangingPunct="0">
      <a:spcBef>
        <a:spcPct val="30000"/>
      </a:spcBef>
      <a:spcAft>
        <a:spcPct val="0"/>
      </a:spcAft>
      <a:defRPr sz="5799" kern="1200">
        <a:solidFill>
          <a:schemeClr val="tx1"/>
        </a:solidFill>
        <a:latin typeface="+mn-lt"/>
        <a:ea typeface="+mn-ea"/>
        <a:cs typeface="+mn-cs"/>
      </a:defRPr>
    </a:lvl1pPr>
    <a:lvl2pPr marL="2193857" algn="l" defTabSz="2193857" rtl="0" eaLnBrk="0" fontAlgn="base" hangingPunct="0">
      <a:spcBef>
        <a:spcPct val="30000"/>
      </a:spcBef>
      <a:spcAft>
        <a:spcPct val="0"/>
      </a:spcAft>
      <a:defRPr sz="5799" kern="1200">
        <a:solidFill>
          <a:schemeClr val="tx1"/>
        </a:solidFill>
        <a:latin typeface="+mn-lt"/>
        <a:ea typeface="+mn-ea"/>
        <a:cs typeface="+mn-cs"/>
      </a:defRPr>
    </a:lvl2pPr>
    <a:lvl3pPr marL="4387712" algn="l" defTabSz="2193857" rtl="0" eaLnBrk="0" fontAlgn="base" hangingPunct="0">
      <a:spcBef>
        <a:spcPct val="30000"/>
      </a:spcBef>
      <a:spcAft>
        <a:spcPct val="0"/>
      </a:spcAft>
      <a:defRPr sz="5799" kern="1200">
        <a:solidFill>
          <a:schemeClr val="tx1"/>
        </a:solidFill>
        <a:latin typeface="+mn-lt"/>
        <a:ea typeface="+mn-ea"/>
        <a:cs typeface="+mn-cs"/>
      </a:defRPr>
    </a:lvl3pPr>
    <a:lvl4pPr marL="6581567" algn="l" defTabSz="2193857" rtl="0" eaLnBrk="0" fontAlgn="base" hangingPunct="0">
      <a:spcBef>
        <a:spcPct val="30000"/>
      </a:spcBef>
      <a:spcAft>
        <a:spcPct val="0"/>
      </a:spcAft>
      <a:defRPr sz="5799" kern="1200">
        <a:solidFill>
          <a:schemeClr val="tx1"/>
        </a:solidFill>
        <a:latin typeface="+mn-lt"/>
        <a:ea typeface="+mn-ea"/>
        <a:cs typeface="+mn-cs"/>
      </a:defRPr>
    </a:lvl4pPr>
    <a:lvl5pPr marL="8775428" algn="l" defTabSz="2193857" rtl="0" eaLnBrk="0" fontAlgn="base" hangingPunct="0">
      <a:spcBef>
        <a:spcPct val="30000"/>
      </a:spcBef>
      <a:spcAft>
        <a:spcPct val="0"/>
      </a:spcAft>
      <a:defRPr sz="5799" kern="1200">
        <a:solidFill>
          <a:schemeClr val="tx1"/>
        </a:solidFill>
        <a:latin typeface="+mn-lt"/>
        <a:ea typeface="+mn-ea"/>
        <a:cs typeface="+mn-cs"/>
      </a:defRPr>
    </a:lvl5pPr>
    <a:lvl6pPr marL="10969287" algn="l" defTabSz="2193857" rtl="0" eaLnBrk="1" latinLnBrk="0" hangingPunct="1">
      <a:defRPr sz="5799" kern="1200">
        <a:solidFill>
          <a:schemeClr val="tx1"/>
        </a:solidFill>
        <a:latin typeface="+mn-lt"/>
        <a:ea typeface="+mn-ea"/>
        <a:cs typeface="+mn-cs"/>
      </a:defRPr>
    </a:lvl6pPr>
    <a:lvl7pPr marL="13163142" algn="l" defTabSz="2193857" rtl="0" eaLnBrk="1" latinLnBrk="0" hangingPunct="1">
      <a:defRPr sz="5799" kern="1200">
        <a:solidFill>
          <a:schemeClr val="tx1"/>
        </a:solidFill>
        <a:latin typeface="+mn-lt"/>
        <a:ea typeface="+mn-ea"/>
        <a:cs typeface="+mn-cs"/>
      </a:defRPr>
    </a:lvl7pPr>
    <a:lvl8pPr marL="15356998" algn="l" defTabSz="2193857" rtl="0" eaLnBrk="1" latinLnBrk="0" hangingPunct="1">
      <a:defRPr sz="5799" kern="1200">
        <a:solidFill>
          <a:schemeClr val="tx1"/>
        </a:solidFill>
        <a:latin typeface="+mn-lt"/>
        <a:ea typeface="+mn-ea"/>
        <a:cs typeface="+mn-cs"/>
      </a:defRPr>
    </a:lvl8pPr>
    <a:lvl9pPr marL="17550855" algn="l" defTabSz="2193857" rtl="0" eaLnBrk="1" latinLnBrk="0" hangingPunct="1">
      <a:defRPr sz="57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535B096-6CBE-4AB3-9529-5688244F2DCE}" type="slidenum">
              <a:rPr lang="en-US" smtClean="0"/>
              <a:pPr>
                <a:defRPr/>
              </a:pPr>
              <a:t>1</a:t>
            </a:fld>
            <a:endParaRPr lang="en-US"/>
          </a:p>
        </p:txBody>
      </p:sp>
    </p:spTree>
    <p:extLst>
      <p:ext uri="{BB962C8B-B14F-4D97-AF65-F5344CB8AC3E}">
        <p14:creationId xmlns:p14="http://schemas.microsoft.com/office/powerpoint/2010/main" val="3004073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427" y="10225772"/>
            <a:ext cx="37308367" cy="7055984"/>
          </a:xfrm>
          <a:prstGeom prst="rect">
            <a:avLst/>
          </a:prstGeom>
        </p:spPr>
        <p:txBody>
          <a:bodyPr lIns="120015" tIns="60008" rIns="120015" bIns="60008"/>
          <a:lstStyle/>
          <a:p>
            <a:r>
              <a:rPr lang="en-US"/>
              <a:t>Click to edit Master title style</a:t>
            </a:r>
          </a:p>
        </p:txBody>
      </p:sp>
      <p:sp>
        <p:nvSpPr>
          <p:cNvPr id="3" name="Subtitle 2"/>
          <p:cNvSpPr>
            <a:spLocks noGrp="1"/>
          </p:cNvSpPr>
          <p:nvPr>
            <p:ph type="subTitle" idx="1"/>
          </p:nvPr>
        </p:nvSpPr>
        <p:spPr>
          <a:xfrm>
            <a:off x="6582841" y="18653354"/>
            <a:ext cx="30725535" cy="8413296"/>
          </a:xfrm>
          <a:prstGeom prst="rect">
            <a:avLst/>
          </a:prstGeom>
        </p:spPr>
        <p:txBody>
          <a:bodyPr lIns="120015" tIns="60008" rIns="120015" bIns="60008"/>
          <a:lstStyle>
            <a:lvl1pPr marL="0" indent="0" algn="ctr">
              <a:buNone/>
              <a:defRPr>
                <a:solidFill>
                  <a:schemeClr val="tx1">
                    <a:tint val="75000"/>
                  </a:schemeClr>
                </a:solidFill>
              </a:defRPr>
            </a:lvl1pPr>
            <a:lvl2pPr marL="289334" indent="0" algn="ctr">
              <a:buNone/>
              <a:defRPr>
                <a:solidFill>
                  <a:schemeClr val="tx1">
                    <a:tint val="75000"/>
                  </a:schemeClr>
                </a:solidFill>
              </a:defRPr>
            </a:lvl2pPr>
            <a:lvl3pPr marL="578669" indent="0" algn="ctr">
              <a:buNone/>
              <a:defRPr>
                <a:solidFill>
                  <a:schemeClr val="tx1">
                    <a:tint val="75000"/>
                  </a:schemeClr>
                </a:solidFill>
              </a:defRPr>
            </a:lvl3pPr>
            <a:lvl4pPr marL="868002" indent="0" algn="ctr">
              <a:buNone/>
              <a:defRPr>
                <a:solidFill>
                  <a:schemeClr val="tx1">
                    <a:tint val="75000"/>
                  </a:schemeClr>
                </a:solidFill>
              </a:defRPr>
            </a:lvl4pPr>
            <a:lvl5pPr marL="1157336" indent="0" algn="ctr">
              <a:buNone/>
              <a:defRPr>
                <a:solidFill>
                  <a:schemeClr val="tx1">
                    <a:tint val="75000"/>
                  </a:schemeClr>
                </a:solidFill>
              </a:defRPr>
            </a:lvl5pPr>
            <a:lvl6pPr marL="1446670" indent="0" algn="ctr">
              <a:buNone/>
              <a:defRPr>
                <a:solidFill>
                  <a:schemeClr val="tx1">
                    <a:tint val="75000"/>
                  </a:schemeClr>
                </a:solidFill>
              </a:defRPr>
            </a:lvl6pPr>
            <a:lvl7pPr marL="1736003" indent="0" algn="ctr">
              <a:buNone/>
              <a:defRPr>
                <a:solidFill>
                  <a:schemeClr val="tx1">
                    <a:tint val="75000"/>
                  </a:schemeClr>
                </a:solidFill>
              </a:defRPr>
            </a:lvl7pPr>
            <a:lvl8pPr marL="2025338" indent="0" algn="ctr">
              <a:buNone/>
              <a:defRPr>
                <a:solidFill>
                  <a:schemeClr val="tx1">
                    <a:tint val="75000"/>
                  </a:schemeClr>
                </a:solidFill>
              </a:defRPr>
            </a:lvl8pPr>
            <a:lvl9pPr marL="231467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69577586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1">
          <a:gsLst>
            <a:gs pos="0">
              <a:srgbClr val="4B647B"/>
            </a:gs>
            <a:gs pos="100000">
              <a:srgbClr val="292E36"/>
            </a:gs>
          </a:gsLst>
          <a:lin ang="5400000"/>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8" r:id="rId1"/>
  </p:sldLayoutIdLst>
  <p:txStyles>
    <p:titleStyle>
      <a:lvl1pPr algn="ctr" defTabSz="1058123" rtl="0" fontAlgn="base">
        <a:spcBef>
          <a:spcPct val="0"/>
        </a:spcBef>
        <a:spcAft>
          <a:spcPct val="0"/>
        </a:spcAft>
        <a:defRPr sz="10174" kern="1200">
          <a:solidFill>
            <a:schemeClr val="tx1"/>
          </a:solidFill>
          <a:latin typeface="+mj-lt"/>
          <a:ea typeface="ＭＳ Ｐゴシック" pitchFamily="-111" charset="-128"/>
          <a:cs typeface="ＭＳ Ｐゴシック" pitchFamily="-111" charset="-128"/>
        </a:defRPr>
      </a:lvl1pPr>
      <a:lvl2pPr algn="ctr" defTabSz="1058123" rtl="0" fontAlgn="base">
        <a:spcBef>
          <a:spcPct val="0"/>
        </a:spcBef>
        <a:spcAft>
          <a:spcPct val="0"/>
        </a:spcAft>
        <a:defRPr sz="10174">
          <a:solidFill>
            <a:schemeClr val="tx1"/>
          </a:solidFill>
          <a:latin typeface="Arial" charset="0"/>
          <a:ea typeface="ＭＳ Ｐゴシック" pitchFamily="-111" charset="-128"/>
          <a:cs typeface="ＭＳ Ｐゴシック" pitchFamily="-111" charset="-128"/>
        </a:defRPr>
      </a:lvl2pPr>
      <a:lvl3pPr algn="ctr" defTabSz="1058123" rtl="0" fontAlgn="base">
        <a:spcBef>
          <a:spcPct val="0"/>
        </a:spcBef>
        <a:spcAft>
          <a:spcPct val="0"/>
        </a:spcAft>
        <a:defRPr sz="10174">
          <a:solidFill>
            <a:schemeClr val="tx1"/>
          </a:solidFill>
          <a:latin typeface="Arial" charset="0"/>
          <a:ea typeface="ＭＳ Ｐゴシック" pitchFamily="-111" charset="-128"/>
          <a:cs typeface="ＭＳ Ｐゴシック" pitchFamily="-111" charset="-128"/>
        </a:defRPr>
      </a:lvl3pPr>
      <a:lvl4pPr algn="ctr" defTabSz="1058123" rtl="0" fontAlgn="base">
        <a:spcBef>
          <a:spcPct val="0"/>
        </a:spcBef>
        <a:spcAft>
          <a:spcPct val="0"/>
        </a:spcAft>
        <a:defRPr sz="10174">
          <a:solidFill>
            <a:schemeClr val="tx1"/>
          </a:solidFill>
          <a:latin typeface="Arial" charset="0"/>
          <a:ea typeface="ＭＳ Ｐゴシック" pitchFamily="-111" charset="-128"/>
          <a:cs typeface="ＭＳ Ｐゴシック" pitchFamily="-111" charset="-128"/>
        </a:defRPr>
      </a:lvl4pPr>
      <a:lvl5pPr algn="ctr" defTabSz="1058123" rtl="0" fontAlgn="base">
        <a:spcBef>
          <a:spcPct val="0"/>
        </a:spcBef>
        <a:spcAft>
          <a:spcPct val="0"/>
        </a:spcAft>
        <a:defRPr sz="10174">
          <a:solidFill>
            <a:schemeClr val="tx1"/>
          </a:solidFill>
          <a:latin typeface="Arial" charset="0"/>
          <a:ea typeface="ＭＳ Ｐゴシック" pitchFamily="-111" charset="-128"/>
          <a:cs typeface="ＭＳ Ｐゴシック" pitchFamily="-111" charset="-128"/>
        </a:defRPr>
      </a:lvl5pPr>
      <a:lvl6pPr marL="1058123" algn="ctr" defTabSz="1058123" rtl="0" eaLnBrk="1" fontAlgn="base" hangingPunct="1">
        <a:spcBef>
          <a:spcPct val="0"/>
        </a:spcBef>
        <a:spcAft>
          <a:spcPct val="0"/>
        </a:spcAft>
        <a:defRPr sz="10174">
          <a:solidFill>
            <a:schemeClr val="tx1"/>
          </a:solidFill>
          <a:latin typeface="Calibri" pitchFamily="-111" charset="0"/>
          <a:ea typeface="ＭＳ Ｐゴシック" pitchFamily="-111" charset="-128"/>
          <a:cs typeface="ＭＳ Ｐゴシック" pitchFamily="-111" charset="-128"/>
        </a:defRPr>
      </a:lvl6pPr>
      <a:lvl7pPr marL="2116246" algn="ctr" defTabSz="1058123" rtl="0" eaLnBrk="1" fontAlgn="base" hangingPunct="1">
        <a:spcBef>
          <a:spcPct val="0"/>
        </a:spcBef>
        <a:spcAft>
          <a:spcPct val="0"/>
        </a:spcAft>
        <a:defRPr sz="10174">
          <a:solidFill>
            <a:schemeClr val="tx1"/>
          </a:solidFill>
          <a:latin typeface="Calibri" pitchFamily="-111" charset="0"/>
          <a:ea typeface="ＭＳ Ｐゴシック" pitchFamily="-111" charset="-128"/>
          <a:cs typeface="ＭＳ Ｐゴシック" pitchFamily="-111" charset="-128"/>
        </a:defRPr>
      </a:lvl7pPr>
      <a:lvl8pPr marL="3174370" algn="ctr" defTabSz="1058123" rtl="0" eaLnBrk="1" fontAlgn="base" hangingPunct="1">
        <a:spcBef>
          <a:spcPct val="0"/>
        </a:spcBef>
        <a:spcAft>
          <a:spcPct val="0"/>
        </a:spcAft>
        <a:defRPr sz="10174">
          <a:solidFill>
            <a:schemeClr val="tx1"/>
          </a:solidFill>
          <a:latin typeface="Calibri" pitchFamily="-111" charset="0"/>
          <a:ea typeface="ＭＳ Ｐゴシック" pitchFamily="-111" charset="-128"/>
          <a:cs typeface="ＭＳ Ｐゴシック" pitchFamily="-111" charset="-128"/>
        </a:defRPr>
      </a:lvl8pPr>
      <a:lvl9pPr marL="4232492" algn="ctr" defTabSz="1058123" rtl="0" eaLnBrk="1" fontAlgn="base" hangingPunct="1">
        <a:spcBef>
          <a:spcPct val="0"/>
        </a:spcBef>
        <a:spcAft>
          <a:spcPct val="0"/>
        </a:spcAft>
        <a:defRPr sz="10174">
          <a:solidFill>
            <a:schemeClr val="tx1"/>
          </a:solidFill>
          <a:latin typeface="Calibri" pitchFamily="-111" charset="0"/>
          <a:ea typeface="ＭＳ Ｐゴシック" pitchFamily="-111" charset="-128"/>
          <a:cs typeface="ＭＳ Ｐゴシック" pitchFamily="-111" charset="-128"/>
        </a:defRPr>
      </a:lvl9pPr>
    </p:titleStyle>
    <p:bodyStyle>
      <a:lvl1pPr marL="793592" indent="-793592" algn="l" defTabSz="1058123" rtl="0" fontAlgn="base">
        <a:spcBef>
          <a:spcPct val="20000"/>
        </a:spcBef>
        <a:spcAft>
          <a:spcPct val="0"/>
        </a:spcAft>
        <a:buFont typeface="Arial" charset="0"/>
        <a:buChar char="•"/>
        <a:defRPr sz="7425" kern="1200">
          <a:solidFill>
            <a:schemeClr val="tx1"/>
          </a:solidFill>
          <a:latin typeface="+mn-lt"/>
          <a:ea typeface="ＭＳ Ｐゴシック" pitchFamily="-111" charset="-128"/>
          <a:cs typeface="ＭＳ Ｐゴシック" pitchFamily="-111" charset="-128"/>
        </a:defRPr>
      </a:lvl1pPr>
      <a:lvl2pPr marL="1719450" indent="-661328" algn="l" defTabSz="1058123" rtl="0" fontAlgn="base">
        <a:spcBef>
          <a:spcPct val="20000"/>
        </a:spcBef>
        <a:spcAft>
          <a:spcPct val="0"/>
        </a:spcAft>
        <a:buFont typeface="Arial" charset="0"/>
        <a:buChar char="–"/>
        <a:defRPr sz="6461" kern="1200">
          <a:solidFill>
            <a:schemeClr val="tx1"/>
          </a:solidFill>
          <a:latin typeface="+mn-lt"/>
          <a:ea typeface="ＭＳ Ｐゴシック" pitchFamily="-111" charset="-128"/>
          <a:cs typeface="+mn-cs"/>
        </a:defRPr>
      </a:lvl2pPr>
      <a:lvl3pPr marL="2645307" indent="-529062" algn="l" defTabSz="1058123" rtl="0" fontAlgn="base">
        <a:spcBef>
          <a:spcPct val="20000"/>
        </a:spcBef>
        <a:spcAft>
          <a:spcPct val="0"/>
        </a:spcAft>
        <a:buFont typeface="Arial" charset="0"/>
        <a:buChar char="•"/>
        <a:defRPr sz="5593" kern="1200">
          <a:solidFill>
            <a:schemeClr val="tx1"/>
          </a:solidFill>
          <a:latin typeface="+mn-lt"/>
          <a:ea typeface="ＭＳ Ｐゴシック" pitchFamily="-111" charset="-128"/>
          <a:cs typeface="+mn-cs"/>
        </a:defRPr>
      </a:lvl3pPr>
      <a:lvl4pPr marL="3703430" indent="-529062" algn="l" defTabSz="1058123" rtl="0" fontAlgn="base">
        <a:spcBef>
          <a:spcPct val="20000"/>
        </a:spcBef>
        <a:spcAft>
          <a:spcPct val="0"/>
        </a:spcAft>
        <a:buFont typeface="Arial" charset="0"/>
        <a:buChar char="–"/>
        <a:defRPr sz="4629" kern="1200">
          <a:solidFill>
            <a:schemeClr val="tx1"/>
          </a:solidFill>
          <a:latin typeface="+mn-lt"/>
          <a:ea typeface="ＭＳ Ｐゴシック" pitchFamily="-111" charset="-128"/>
          <a:cs typeface="+mn-cs"/>
        </a:defRPr>
      </a:lvl4pPr>
      <a:lvl5pPr marL="4761555" indent="-529062" algn="l" defTabSz="1058123" rtl="0" fontAlgn="base">
        <a:spcBef>
          <a:spcPct val="20000"/>
        </a:spcBef>
        <a:spcAft>
          <a:spcPct val="0"/>
        </a:spcAft>
        <a:buFont typeface="Arial" charset="0"/>
        <a:buChar char="»"/>
        <a:defRPr sz="4629" kern="1200">
          <a:solidFill>
            <a:schemeClr val="tx1"/>
          </a:solidFill>
          <a:latin typeface="+mn-lt"/>
          <a:ea typeface="ＭＳ Ｐゴシック" pitchFamily="-111" charset="-128"/>
          <a:cs typeface="+mn-cs"/>
        </a:defRPr>
      </a:lvl5pPr>
      <a:lvl6pPr marL="5819678" indent="-529062" algn="l" defTabSz="1058123" rtl="0" eaLnBrk="1" latinLnBrk="0" hangingPunct="1">
        <a:spcBef>
          <a:spcPct val="20000"/>
        </a:spcBef>
        <a:buFont typeface="Arial"/>
        <a:buChar char="•"/>
        <a:defRPr sz="4629" kern="1200">
          <a:solidFill>
            <a:schemeClr val="tx1"/>
          </a:solidFill>
          <a:latin typeface="+mn-lt"/>
          <a:ea typeface="+mn-ea"/>
          <a:cs typeface="+mn-cs"/>
        </a:defRPr>
      </a:lvl6pPr>
      <a:lvl7pPr marL="6877800" indent="-529062" algn="l" defTabSz="1058123" rtl="0" eaLnBrk="1" latinLnBrk="0" hangingPunct="1">
        <a:spcBef>
          <a:spcPct val="20000"/>
        </a:spcBef>
        <a:buFont typeface="Arial"/>
        <a:buChar char="•"/>
        <a:defRPr sz="4629" kern="1200">
          <a:solidFill>
            <a:schemeClr val="tx1"/>
          </a:solidFill>
          <a:latin typeface="+mn-lt"/>
          <a:ea typeface="+mn-ea"/>
          <a:cs typeface="+mn-cs"/>
        </a:defRPr>
      </a:lvl7pPr>
      <a:lvl8pPr marL="7935923" indent="-529062" algn="l" defTabSz="1058123" rtl="0" eaLnBrk="1" latinLnBrk="0" hangingPunct="1">
        <a:spcBef>
          <a:spcPct val="20000"/>
        </a:spcBef>
        <a:buFont typeface="Arial"/>
        <a:buChar char="•"/>
        <a:defRPr sz="4629" kern="1200">
          <a:solidFill>
            <a:schemeClr val="tx1"/>
          </a:solidFill>
          <a:latin typeface="+mn-lt"/>
          <a:ea typeface="+mn-ea"/>
          <a:cs typeface="+mn-cs"/>
        </a:defRPr>
      </a:lvl8pPr>
      <a:lvl9pPr marL="8994047" indent="-529062" algn="l" defTabSz="1058123" rtl="0" eaLnBrk="1" latinLnBrk="0" hangingPunct="1">
        <a:spcBef>
          <a:spcPct val="20000"/>
        </a:spcBef>
        <a:buFont typeface="Arial"/>
        <a:buChar char="•"/>
        <a:defRPr sz="4629" kern="1200">
          <a:solidFill>
            <a:schemeClr val="tx1"/>
          </a:solidFill>
          <a:latin typeface="+mn-lt"/>
          <a:ea typeface="+mn-ea"/>
          <a:cs typeface="+mn-cs"/>
        </a:defRPr>
      </a:lvl9pPr>
    </p:bodyStyle>
    <p:otherStyle>
      <a:defPPr>
        <a:defRPr lang="en-US"/>
      </a:defPPr>
      <a:lvl1pPr marL="0" algn="l" defTabSz="1058123" rtl="0" eaLnBrk="1" latinLnBrk="0" hangingPunct="1">
        <a:defRPr sz="4195" kern="1200">
          <a:solidFill>
            <a:schemeClr val="tx1"/>
          </a:solidFill>
          <a:latin typeface="+mn-lt"/>
          <a:ea typeface="+mn-ea"/>
          <a:cs typeface="+mn-cs"/>
        </a:defRPr>
      </a:lvl1pPr>
      <a:lvl2pPr marL="1058123" algn="l" defTabSz="1058123" rtl="0" eaLnBrk="1" latinLnBrk="0" hangingPunct="1">
        <a:defRPr sz="4195" kern="1200">
          <a:solidFill>
            <a:schemeClr val="tx1"/>
          </a:solidFill>
          <a:latin typeface="+mn-lt"/>
          <a:ea typeface="+mn-ea"/>
          <a:cs typeface="+mn-cs"/>
        </a:defRPr>
      </a:lvl2pPr>
      <a:lvl3pPr marL="2116246" algn="l" defTabSz="1058123" rtl="0" eaLnBrk="1" latinLnBrk="0" hangingPunct="1">
        <a:defRPr sz="4195" kern="1200">
          <a:solidFill>
            <a:schemeClr val="tx1"/>
          </a:solidFill>
          <a:latin typeface="+mn-lt"/>
          <a:ea typeface="+mn-ea"/>
          <a:cs typeface="+mn-cs"/>
        </a:defRPr>
      </a:lvl3pPr>
      <a:lvl4pPr marL="3174370" algn="l" defTabSz="1058123" rtl="0" eaLnBrk="1" latinLnBrk="0" hangingPunct="1">
        <a:defRPr sz="4195" kern="1200">
          <a:solidFill>
            <a:schemeClr val="tx1"/>
          </a:solidFill>
          <a:latin typeface="+mn-lt"/>
          <a:ea typeface="+mn-ea"/>
          <a:cs typeface="+mn-cs"/>
        </a:defRPr>
      </a:lvl4pPr>
      <a:lvl5pPr marL="4232492" algn="l" defTabSz="1058123" rtl="0" eaLnBrk="1" latinLnBrk="0" hangingPunct="1">
        <a:defRPr sz="4195" kern="1200">
          <a:solidFill>
            <a:schemeClr val="tx1"/>
          </a:solidFill>
          <a:latin typeface="+mn-lt"/>
          <a:ea typeface="+mn-ea"/>
          <a:cs typeface="+mn-cs"/>
        </a:defRPr>
      </a:lvl5pPr>
      <a:lvl6pPr marL="5290616" algn="l" defTabSz="1058123" rtl="0" eaLnBrk="1" latinLnBrk="0" hangingPunct="1">
        <a:defRPr sz="4195" kern="1200">
          <a:solidFill>
            <a:schemeClr val="tx1"/>
          </a:solidFill>
          <a:latin typeface="+mn-lt"/>
          <a:ea typeface="+mn-ea"/>
          <a:cs typeface="+mn-cs"/>
        </a:defRPr>
      </a:lvl6pPr>
      <a:lvl7pPr marL="6348740" algn="l" defTabSz="1058123" rtl="0" eaLnBrk="1" latinLnBrk="0" hangingPunct="1">
        <a:defRPr sz="4195" kern="1200">
          <a:solidFill>
            <a:schemeClr val="tx1"/>
          </a:solidFill>
          <a:latin typeface="+mn-lt"/>
          <a:ea typeface="+mn-ea"/>
          <a:cs typeface="+mn-cs"/>
        </a:defRPr>
      </a:lvl7pPr>
      <a:lvl8pPr marL="7406862" algn="l" defTabSz="1058123" rtl="0" eaLnBrk="1" latinLnBrk="0" hangingPunct="1">
        <a:defRPr sz="4195" kern="1200">
          <a:solidFill>
            <a:schemeClr val="tx1"/>
          </a:solidFill>
          <a:latin typeface="+mn-lt"/>
          <a:ea typeface="+mn-ea"/>
          <a:cs typeface="+mn-cs"/>
        </a:defRPr>
      </a:lvl8pPr>
      <a:lvl9pPr marL="8464985" algn="l" defTabSz="1058123" rtl="0" eaLnBrk="1" latinLnBrk="0" hangingPunct="1">
        <a:defRPr sz="41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hyperlink" Target="https://www.geoweeknews.com/news/mobile-mapping-lidar-software-hardware-trimble-leica-riegl" TargetMode="External"/><Relationship Id="rId18" Type="http://schemas.openxmlformats.org/officeDocument/2006/relationships/image" Target="../media/image11.png"/><Relationship Id="rId3" Type="http://schemas.openxmlformats.org/officeDocument/2006/relationships/image" Target="../media/image1.png"/><Relationship Id="rId21" Type="http://schemas.openxmlformats.org/officeDocument/2006/relationships/image" Target="../media/image14.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hyperlink" Target="https://uavcoach.com/drone-mapping" TargetMode="External"/><Relationship Id="rId25" Type="http://schemas.openxmlformats.org/officeDocument/2006/relationships/image" Target="../media/image18.png"/><Relationship Id="rId2" Type="http://schemas.openxmlformats.org/officeDocument/2006/relationships/notesSlide" Target="../notesSlides/notesSlide1.xml"/><Relationship Id="rId16" Type="http://schemas.openxmlformats.org/officeDocument/2006/relationships/hyperlink" Target="https://www.sciencedirect.com/science/article/pii/S2590005624000274" TargetMode="External"/><Relationship Id="rId20"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17.png"/><Relationship Id="rId5" Type="http://schemas.openxmlformats.org/officeDocument/2006/relationships/image" Target="../media/image3.png"/><Relationship Id="rId15" Type="http://schemas.openxmlformats.org/officeDocument/2006/relationships/hyperlink" Target="https://doi.org/10.1109/CVPR.2016.91" TargetMode="External"/><Relationship Id="rId23" Type="http://schemas.openxmlformats.org/officeDocument/2006/relationships/image" Target="../media/image16.png"/><Relationship Id="rId10" Type="http://schemas.openxmlformats.org/officeDocument/2006/relationships/image" Target="../media/image8.jpg"/><Relationship Id="rId19"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7.jpg"/><Relationship Id="rId14" Type="http://schemas.openxmlformats.org/officeDocument/2006/relationships/hyperlink" Target="https://github.com/microsoft/AirSim" TargetMode="External"/><Relationship Id="rId22"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lumMod val="40000"/>
                <a:lumOff val="60000"/>
              </a:schemeClr>
            </a:gs>
            <a:gs pos="100000">
              <a:schemeClr val="tx2">
                <a:lumMod val="75000"/>
              </a:schemeClr>
            </a:gs>
          </a:gsLst>
          <a:lin ang="5400000"/>
        </a:gradFill>
        <a:effectLst/>
      </p:bgPr>
    </p:bg>
    <p:spTree>
      <p:nvGrpSpPr>
        <p:cNvPr id="1" name=""/>
        <p:cNvGrpSpPr/>
        <p:nvPr/>
      </p:nvGrpSpPr>
      <p:grpSpPr>
        <a:xfrm>
          <a:off x="0" y="0"/>
          <a:ext cx="0" cy="0"/>
          <a:chOff x="0" y="0"/>
          <a:chExt cx="0" cy="0"/>
        </a:xfrm>
      </p:grpSpPr>
      <p:sp>
        <p:nvSpPr>
          <p:cNvPr id="1071" name="Rectangle: Rounded Corners 1070">
            <a:extLst>
              <a:ext uri="{FF2B5EF4-FFF2-40B4-BE49-F238E27FC236}">
                <a16:creationId xmlns:a16="http://schemas.microsoft.com/office/drawing/2014/main" id="{EA47C015-9265-E476-3AC1-8C3097446975}"/>
              </a:ext>
            </a:extLst>
          </p:cNvPr>
          <p:cNvSpPr/>
          <p:nvPr/>
        </p:nvSpPr>
        <p:spPr>
          <a:xfrm>
            <a:off x="11631428" y="6204030"/>
            <a:ext cx="21283640" cy="26440050"/>
          </a:xfrm>
          <a:prstGeom prst="roundRect">
            <a:avLst>
              <a:gd name="adj" fmla="val 2236"/>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AutoShape 32">
            <a:extLst>
              <a:ext uri="{FF2B5EF4-FFF2-40B4-BE49-F238E27FC236}">
                <a16:creationId xmlns:a16="http://schemas.microsoft.com/office/drawing/2014/main" id="{785D8E0F-9C1D-A27C-CCB2-914062DC1A74}"/>
              </a:ext>
            </a:extLst>
          </p:cNvPr>
          <p:cNvSpPr>
            <a:spLocks noChangeArrowheads="1"/>
          </p:cNvSpPr>
          <p:nvPr/>
        </p:nvSpPr>
        <p:spPr bwMode="auto">
          <a:xfrm>
            <a:off x="21709710" y="24337350"/>
            <a:ext cx="10977772" cy="7863420"/>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marL="0" marR="0" lvl="0" indent="0" algn="ctr" defTabSz="2193857"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a:p>
            <a:pPr marL="0" marR="0" lvl="0" indent="0" algn="ctr" defTabSz="2193857" rtl="0" eaLnBrk="1" fontAlgn="base" latinLnBrk="0" hangingPunct="1">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Real World Implementation</a:t>
            </a:r>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After testing the system in simulation, the code was run in the real world. To do this, the DJI Tello drone was used for this. The drone was run in a 20 second flight where it took off, moved up and rotated, and then landed, while analyzing camera frames in real time.</a:t>
            </a:r>
          </a:p>
          <a:p>
            <a:endParaRPr lang="en-US" sz="2600" dirty="0">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Figure 9 (right): Real world </a:t>
            </a:r>
          </a:p>
          <a:p>
            <a:r>
              <a:rPr lang="en-US" sz="2400" dirty="0">
                <a:latin typeface="Calibri" panose="020F0502020204030204" pitchFamily="34" charset="0"/>
                <a:ea typeface="Calibri" panose="020F0502020204030204" pitchFamily="34" charset="0"/>
                <a:cs typeface="Calibri" panose="020F0502020204030204" pitchFamily="34" charset="0"/>
              </a:rPr>
              <a:t>road detection using a </a:t>
            </a:r>
          </a:p>
          <a:p>
            <a:r>
              <a:rPr lang="en-US" sz="2400" dirty="0">
                <a:latin typeface="Calibri" panose="020F0502020204030204" pitchFamily="34" charset="0"/>
                <a:ea typeface="Calibri" panose="020F0502020204030204" pitchFamily="34" charset="0"/>
                <a:cs typeface="Calibri" panose="020F0502020204030204" pitchFamily="34" charset="0"/>
              </a:rPr>
              <a:t>drone with 720p resolution </a:t>
            </a:r>
          </a:p>
          <a:p>
            <a:r>
              <a:rPr lang="en-US" sz="2400" dirty="0">
                <a:latin typeface="Calibri" panose="020F0502020204030204" pitchFamily="34" charset="0"/>
                <a:ea typeface="Calibri" panose="020F0502020204030204" pitchFamily="34" charset="0"/>
                <a:cs typeface="Calibri" panose="020F0502020204030204" pitchFamily="34" charset="0"/>
              </a:rPr>
              <a:t>at 30fps. Still frame taken </a:t>
            </a:r>
          </a:p>
          <a:p>
            <a:r>
              <a:rPr lang="en-US" sz="2400" dirty="0">
                <a:latin typeface="Calibri" panose="020F0502020204030204" pitchFamily="34" charset="0"/>
                <a:ea typeface="Calibri" panose="020F0502020204030204" pitchFamily="34" charset="0"/>
                <a:cs typeface="Calibri" panose="020F0502020204030204" pitchFamily="34" charset="0"/>
              </a:rPr>
              <a:t>from video footage of flight</a:t>
            </a: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
        <p:nvSpPr>
          <p:cNvPr id="12" name="AutoShape 40">
            <a:extLst>
              <a:ext uri="{FF2B5EF4-FFF2-40B4-BE49-F238E27FC236}">
                <a16:creationId xmlns:a16="http://schemas.microsoft.com/office/drawing/2014/main" id="{20C7F851-1B0A-9A23-C276-0C1885753F3C}"/>
              </a:ext>
            </a:extLst>
          </p:cNvPr>
          <p:cNvSpPr>
            <a:spLocks noChangeArrowheads="1"/>
          </p:cNvSpPr>
          <p:nvPr/>
        </p:nvSpPr>
        <p:spPr bwMode="auto">
          <a:xfrm>
            <a:off x="21709709" y="16996370"/>
            <a:ext cx="10977772" cy="7211771"/>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algn="ctr"/>
            <a:endParaRPr lang="en-US" sz="1000" b="1" dirty="0"/>
          </a:p>
          <a:p>
            <a:pPr algn="ctr"/>
            <a:r>
              <a:rPr lang="en-US" sz="3600" b="1" dirty="0">
                <a:latin typeface="Calibri" panose="020F0502020204030204" pitchFamily="34" charset="0"/>
                <a:ea typeface="Calibri" panose="020F0502020204030204" pitchFamily="34" charset="0"/>
                <a:cs typeface="Calibri" panose="020F0502020204030204" pitchFamily="34" charset="0"/>
              </a:rPr>
              <a:t>Metrics for each Preprocessing Config</a:t>
            </a:r>
          </a:p>
          <a:p>
            <a:pPr algn="ctr"/>
            <a:endParaRPr lang="en-US" sz="3600" b="1" dirty="0">
              <a:latin typeface="Calibri" panose="020F0502020204030204" pitchFamily="34" charset="0"/>
              <a:ea typeface="Calibri" panose="020F0502020204030204" pitchFamily="34" charset="0"/>
              <a:cs typeface="Calibri" panose="020F0502020204030204" pitchFamily="34" charset="0"/>
            </a:endParaRPr>
          </a:p>
          <a:p>
            <a:pPr algn="ctr"/>
            <a:endParaRPr lang="en-US" sz="3600" b="1" dirty="0">
              <a:latin typeface="Calibri" panose="020F0502020204030204" pitchFamily="34" charset="0"/>
              <a:ea typeface="Calibri" panose="020F0502020204030204" pitchFamily="34" charset="0"/>
              <a:cs typeface="Calibri" panose="020F0502020204030204" pitchFamily="34" charset="0"/>
            </a:endParaRPr>
          </a:p>
          <a:p>
            <a:pPr algn="ctr"/>
            <a:endParaRPr lang="en-US" sz="3600" b="1" dirty="0">
              <a:latin typeface="Calibri" panose="020F0502020204030204" pitchFamily="34" charset="0"/>
              <a:ea typeface="Calibri" panose="020F0502020204030204" pitchFamily="34" charset="0"/>
              <a:cs typeface="Calibri" panose="020F0502020204030204" pitchFamily="34" charset="0"/>
            </a:endParaRPr>
          </a:p>
          <a:p>
            <a:pPr algn="ctr"/>
            <a:endParaRPr lang="en-US" sz="3600" b="1" dirty="0">
              <a:latin typeface="Calibri" panose="020F0502020204030204" pitchFamily="34" charset="0"/>
              <a:ea typeface="Calibri" panose="020F0502020204030204" pitchFamily="34" charset="0"/>
              <a:cs typeface="Calibri" panose="020F0502020204030204" pitchFamily="34" charset="0"/>
            </a:endParaRPr>
          </a:p>
          <a:p>
            <a:pPr algn="ctr"/>
            <a:endParaRPr lang="en-US" sz="3600" b="1" dirty="0"/>
          </a:p>
          <a:p>
            <a:pPr algn="ctr"/>
            <a:endParaRPr lang="en-US" sz="3600" b="1" dirty="0"/>
          </a:p>
          <a:p>
            <a:pPr algn="ctr"/>
            <a:endParaRPr lang="en-US" sz="3600" b="1" dirty="0"/>
          </a:p>
          <a:p>
            <a:pPr algn="ctr"/>
            <a:endParaRPr lang="en-US" sz="3600" b="1" dirty="0"/>
          </a:p>
          <a:p>
            <a:pPr algn="ctr"/>
            <a:endParaRPr lang="en-US" sz="3600" b="1" dirty="0"/>
          </a:p>
          <a:p>
            <a:pPr algn="ctr"/>
            <a:r>
              <a:rPr lang="en-US" sz="2400" dirty="0">
                <a:latin typeface="Calibri" panose="020F0502020204030204" pitchFamily="34" charset="0"/>
                <a:ea typeface="Calibri" panose="020F0502020204030204" pitchFamily="34" charset="0"/>
                <a:cs typeface="Calibri" panose="020F0502020204030204" pitchFamily="34" charset="0"/>
              </a:rPr>
              <a:t>Figure 6: Different preprocessing configurations and their accuracy. After testing, it was determined that a 480p image with a confidence threshold of 0.2 is optimal. 720p was not used because it was slower </a:t>
            </a:r>
            <a:r>
              <a:rPr lang="en-US" sz="2400">
                <a:latin typeface="Calibri" panose="020F0502020204030204" pitchFamily="34" charset="0"/>
                <a:ea typeface="Calibri" panose="020F0502020204030204" pitchFamily="34" charset="0"/>
                <a:cs typeface="Calibri" panose="020F0502020204030204" pitchFamily="34" charset="0"/>
              </a:rPr>
              <a:t>and did </a:t>
            </a:r>
            <a:r>
              <a:rPr lang="en-US" sz="2400" dirty="0">
                <a:latin typeface="Calibri" panose="020F0502020204030204" pitchFamily="34" charset="0"/>
                <a:ea typeface="Calibri" panose="020F0502020204030204" pitchFamily="34" charset="0"/>
                <a:cs typeface="Calibri" panose="020F0502020204030204" pitchFamily="34" charset="0"/>
              </a:rPr>
              <a:t>not provide a statistically significant increase in accuracy by any </a:t>
            </a:r>
            <a:r>
              <a:rPr lang="en-US" sz="2400">
                <a:latin typeface="Calibri" panose="020F0502020204030204" pitchFamily="34" charset="0"/>
                <a:ea typeface="Calibri" panose="020F0502020204030204" pitchFamily="34" charset="0"/>
                <a:cs typeface="Calibri" panose="020F0502020204030204" pitchFamily="34" charset="0"/>
              </a:rPr>
              <a:t>significance level </a:t>
            </a:r>
            <a:r>
              <a:rPr lang="en-US" sz="2400" dirty="0">
                <a:latin typeface="Calibri" panose="020F0502020204030204" pitchFamily="34" charset="0"/>
                <a:ea typeface="Calibri" panose="020F0502020204030204" pitchFamily="34" charset="0"/>
                <a:cs typeface="Calibri" panose="020F0502020204030204" pitchFamily="34" charset="0"/>
              </a:rPr>
              <a:t>(p &gt; </a:t>
            </a:r>
            <a:r>
              <a:rPr lang="en-US" sz="2400">
                <a:latin typeface="Calibri" panose="020F0502020204030204" pitchFamily="34" charset="0"/>
                <a:ea typeface="Calibri" panose="020F0502020204030204" pitchFamily="34" charset="0"/>
                <a:cs typeface="Calibri" panose="020F0502020204030204" pitchFamily="34" charset="0"/>
              </a:rPr>
              <a:t>0.86).</a:t>
            </a:r>
            <a:endParaRPr lang="en-US" sz="2400" dirty="0">
              <a:latin typeface="Calibri" panose="020F0502020204030204" pitchFamily="34" charset="0"/>
              <a:ea typeface="Calibri" panose="020F0502020204030204" pitchFamily="34" charset="0"/>
              <a:cs typeface="Calibri" panose="020F0502020204030204" pitchFamily="34" charset="0"/>
            </a:endParaRPr>
          </a:p>
          <a:p>
            <a:pPr algn="ctr"/>
            <a:endParaRPr lang="en-US" sz="3600" b="1" dirty="0"/>
          </a:p>
          <a:p>
            <a:pPr algn="ctr"/>
            <a:r>
              <a:rPr lang="en-US" sz="3600" b="1" dirty="0"/>
              <a:t> </a:t>
            </a:r>
          </a:p>
        </p:txBody>
      </p:sp>
      <p:sp>
        <p:nvSpPr>
          <p:cNvPr id="46" name="AutoShape 40">
            <a:extLst>
              <a:ext uri="{FF2B5EF4-FFF2-40B4-BE49-F238E27FC236}">
                <a16:creationId xmlns:a16="http://schemas.microsoft.com/office/drawing/2014/main" id="{9D3B1FA4-C9AA-E109-C1F1-70BCB2758F91}"/>
              </a:ext>
            </a:extLst>
          </p:cNvPr>
          <p:cNvSpPr>
            <a:spLocks noChangeArrowheads="1"/>
          </p:cNvSpPr>
          <p:nvPr/>
        </p:nvSpPr>
        <p:spPr bwMode="auto">
          <a:xfrm>
            <a:off x="21709709" y="11288246"/>
            <a:ext cx="10977773" cy="5616684"/>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algn="ctr"/>
            <a:endParaRPr lang="en-US" sz="1000" b="1" dirty="0"/>
          </a:p>
          <a:p>
            <a:pPr algn="ctr"/>
            <a:r>
              <a:rPr lang="en-US" sz="3600" b="1" dirty="0">
                <a:latin typeface="Calibri" panose="020F0502020204030204" pitchFamily="34" charset="0"/>
                <a:ea typeface="Calibri" panose="020F0502020204030204" pitchFamily="34" charset="0"/>
                <a:cs typeface="Calibri" panose="020F0502020204030204" pitchFamily="34" charset="0"/>
              </a:rPr>
              <a:t>Metrics for each CV Model</a:t>
            </a:r>
          </a:p>
          <a:p>
            <a:pPr algn="ctr"/>
            <a:r>
              <a:rPr lang="en-US" sz="3600" b="1" dirty="0">
                <a:latin typeface="Calibri" panose="020F0502020204030204" pitchFamily="34" charset="0"/>
                <a:ea typeface="Calibri" panose="020F0502020204030204" pitchFamily="34" charset="0"/>
                <a:cs typeface="Calibri" panose="020F0502020204030204" pitchFamily="34" charset="0"/>
              </a:rPr>
              <a:t> </a:t>
            </a:r>
          </a:p>
        </p:txBody>
      </p:sp>
      <p:sp>
        <p:nvSpPr>
          <p:cNvPr id="37" name="AutoShape 32">
            <a:extLst>
              <a:ext uri="{FF2B5EF4-FFF2-40B4-BE49-F238E27FC236}">
                <a16:creationId xmlns:a16="http://schemas.microsoft.com/office/drawing/2014/main" id="{8CE8E7EC-C842-9784-52E5-2CA53D5F9A18}"/>
              </a:ext>
            </a:extLst>
          </p:cNvPr>
          <p:cNvSpPr>
            <a:spLocks noChangeArrowheads="1"/>
          </p:cNvSpPr>
          <p:nvPr/>
        </p:nvSpPr>
        <p:spPr bwMode="auto">
          <a:xfrm>
            <a:off x="21709709" y="7182659"/>
            <a:ext cx="10977772" cy="3876502"/>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marL="0" marR="0" lvl="0" indent="0" algn="ctr" defTabSz="2193857"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a:p>
            <a:pPr marL="0" marR="0" lvl="0" indent="0" algn="ctr" defTabSz="2193857" rtl="0" eaLnBrk="1" fontAlgn="base" latinLnBrk="0" hangingPunct="1">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YOLOv8 Detection</a:t>
            </a:r>
          </a:p>
          <a:p>
            <a:pPr algn="ctr"/>
            <a:endParaRPr lang="en-US" sz="2122" dirty="0">
              <a:latin typeface="+mn-lt"/>
            </a:endParaRPr>
          </a:p>
          <a:p>
            <a:pPr algn="ctr"/>
            <a:endParaRPr lang="en-US" sz="2122"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p:txBody>
      </p:sp>
      <p:sp>
        <p:nvSpPr>
          <p:cNvPr id="4" name="AutoShape 40">
            <a:extLst>
              <a:ext uri="{FF2B5EF4-FFF2-40B4-BE49-F238E27FC236}">
                <a16:creationId xmlns:a16="http://schemas.microsoft.com/office/drawing/2014/main" id="{9C1788D6-A812-E562-73F6-811E317D78C5}"/>
              </a:ext>
            </a:extLst>
          </p:cNvPr>
          <p:cNvSpPr>
            <a:spLocks noChangeArrowheads="1"/>
          </p:cNvSpPr>
          <p:nvPr/>
        </p:nvSpPr>
        <p:spPr bwMode="auto">
          <a:xfrm>
            <a:off x="11836296" y="16996370"/>
            <a:ext cx="9552082" cy="4928433"/>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algn="ctr"/>
            <a:endParaRPr lang="en-US" sz="1000" b="1" dirty="0"/>
          </a:p>
          <a:p>
            <a:pPr algn="ctr"/>
            <a:r>
              <a:rPr lang="en-US" sz="3600" b="1" dirty="0">
                <a:latin typeface="Calibri" panose="020F0502020204030204" pitchFamily="34" charset="0"/>
                <a:ea typeface="Calibri" panose="020F0502020204030204" pitchFamily="34" charset="0"/>
                <a:cs typeface="Calibri" panose="020F0502020204030204" pitchFamily="34" charset="0"/>
              </a:rPr>
              <a:t>TOPSIS Analysis for Model Type</a:t>
            </a:r>
          </a:p>
        </p:txBody>
      </p:sp>
      <p:sp>
        <p:nvSpPr>
          <p:cNvPr id="15" name="Round Same Side Corner Rectangle 14"/>
          <p:cNvSpPr/>
          <p:nvPr/>
        </p:nvSpPr>
        <p:spPr>
          <a:xfrm rot="10800000">
            <a:off x="-4" y="-147189"/>
            <a:ext cx="43891201" cy="3075031"/>
          </a:xfrm>
          <a:prstGeom prst="round2SameRect">
            <a:avLst>
              <a:gd name="adj1" fmla="val 0"/>
              <a:gd name="adj2" fmla="val 0"/>
            </a:avLst>
          </a:prstGeom>
          <a:solidFill>
            <a:srgbClr val="324F6F"/>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8783" tIns="29391" rIns="58783" bIns="29391" numCol="1" spcCol="0" rtlCol="0" fromWordArt="0" anchor="ctr" anchorCtr="0" forceAA="0" compatLnSpc="1">
            <a:prstTxWarp prst="textNoShape">
              <a:avLst/>
            </a:prstTxWarp>
            <a:noAutofit/>
          </a:bodyPr>
          <a:lstStyle/>
          <a:p>
            <a:pPr algn="ctr"/>
            <a:endParaRPr lang="en-US"/>
          </a:p>
        </p:txBody>
      </p:sp>
      <p:sp>
        <p:nvSpPr>
          <p:cNvPr id="10" name="AutoShape 17"/>
          <p:cNvSpPr>
            <a:spLocks noChangeArrowheads="1"/>
          </p:cNvSpPr>
          <p:nvPr/>
        </p:nvSpPr>
        <p:spPr bwMode="auto">
          <a:xfrm>
            <a:off x="434376" y="10564154"/>
            <a:ext cx="10995626" cy="8592526"/>
          </a:xfrm>
          <a:prstGeom prst="roundRect">
            <a:avLst>
              <a:gd name="adj" fmla="val 11343"/>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91440" rIns="274320" bIns="182880" anchor="t"/>
          <a:lstStyle/>
          <a:p>
            <a:endParaRPr lang="en-US" sz="2600" dirty="0">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Online mapping using methods that are not always frequently updated results in low quality maps for many people.</a:t>
            </a:r>
            <a:r>
              <a:rPr lang="en-US" sz="2600" b="1" dirty="0">
                <a:latin typeface="Calibri" panose="020F0502020204030204" pitchFamily="34" charset="0"/>
                <a:ea typeface="Calibri" panose="020F0502020204030204" pitchFamily="34" charset="0"/>
                <a:cs typeface="Calibri" panose="020F0502020204030204" pitchFamily="34" charset="0"/>
              </a:rPr>
              <a:t> </a:t>
            </a:r>
            <a:r>
              <a:rPr lang="en-US" sz="2600" dirty="0">
                <a:solidFill>
                  <a:srgbClr val="021426"/>
                </a:solidFill>
                <a:latin typeface="Calibri" panose="020F0502020204030204" pitchFamily="34" charset="0"/>
                <a:ea typeface="Calibri" panose="020F0502020204030204" pitchFamily="34" charset="0"/>
                <a:cs typeface="Calibri" panose="020F0502020204030204" pitchFamily="34" charset="0"/>
              </a:rPr>
              <a:t>This is a large problem, especially for disaster areas where rapid mapping is needed. It also affects areas both remote rural regions and rapidly changing urban regions often do not have high-quality and frequently updated maps (UAV Coach, 2024). </a:t>
            </a:r>
          </a:p>
          <a:p>
            <a:endParaRPr lang="en-US" sz="2600" b="1"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The aim of this project is to build a drone that can autonomously map a road system. This will be done using a drone that has a camera mounted onboard. </a:t>
            </a:r>
            <a:endParaRPr lang="en-US" sz="2600" b="1" dirty="0">
              <a:latin typeface="Calibri" panose="020F0502020204030204" pitchFamily="34" charset="0"/>
              <a:ea typeface="Calibri" panose="020F0502020204030204" pitchFamily="34" charset="0"/>
              <a:cs typeface="Calibri" panose="020F0502020204030204" pitchFamily="34" charset="0"/>
            </a:endParaRPr>
          </a:p>
          <a:p>
            <a:pPr algn="ctr"/>
            <a:endParaRPr lang="en-US" sz="2600" dirty="0">
              <a:latin typeface="Calibri" panose="020F0502020204030204" pitchFamily="34" charset="0"/>
              <a:ea typeface="Calibri" panose="020F0502020204030204" pitchFamily="34" charset="0"/>
              <a:cs typeface="Calibri" panose="020F0502020204030204" pitchFamily="34" charset="0"/>
            </a:endParaRPr>
          </a:p>
          <a:p>
            <a:pPr algn="just"/>
            <a:r>
              <a:rPr lang="en-US" sz="2600" b="1" dirty="0">
                <a:latin typeface="Calibri" panose="020F0502020204030204" pitchFamily="34" charset="0"/>
                <a:ea typeface="Calibri" panose="020F0502020204030204" pitchFamily="34" charset="0"/>
                <a:cs typeface="Calibri" panose="020F0502020204030204" pitchFamily="34" charset="0"/>
              </a:rPr>
              <a:t> </a:t>
            </a: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Maps made by satellites often have low spatial resolution </a:t>
            </a:r>
          </a:p>
          <a:p>
            <a:pPr marR="0" lvl="0" algn="l" defTabSz="2193857" rtl="0" eaLnBrk="1" fontAlgn="base" latinLnBrk="0" hangingPunct="1">
              <a:lnSpc>
                <a:spcPct val="100000"/>
              </a:lnSpc>
              <a:spcBef>
                <a:spcPct val="0"/>
              </a:spcBef>
              <a:spcAft>
                <a:spcPct val="0"/>
              </a:spcAft>
              <a:buClrTx/>
              <a:buSzTx/>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And</a:t>
            </a:r>
            <a:r>
              <a:rPr lang="en-US" sz="2600" dirty="0">
                <a:solidFill>
                  <a:prstClr val="black"/>
                </a:solidFill>
                <a:latin typeface="Calibri" panose="020F0502020204030204" pitchFamily="34" charset="0"/>
                <a:ea typeface="Calibri" panose="020F0502020204030204" pitchFamily="34" charset="0"/>
                <a:cs typeface="Calibri" panose="020F0502020204030204" pitchFamily="34" charset="0"/>
              </a:rPr>
              <a:t> </a:t>
            </a: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depend on the area having good weather and no </a:t>
            </a:r>
          </a:p>
          <a:p>
            <a:pPr marR="0" lvl="0" algn="l" defTabSz="2193857" rtl="0" eaLnBrk="1" fontAlgn="base" latinLnBrk="0" hangingPunct="1">
              <a:lnSpc>
                <a:spcPct val="100000"/>
              </a:lnSpc>
              <a:spcBef>
                <a:spcPct val="0"/>
              </a:spcBef>
              <a:spcAft>
                <a:spcPct val="0"/>
              </a:spcAft>
              <a:buClrTx/>
              <a:buSzTx/>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cloud cover. On the other hand, vehicle-based mapping </a:t>
            </a:r>
          </a:p>
          <a:p>
            <a:pPr marR="0" lvl="0" algn="l" defTabSz="2193857" rtl="0" eaLnBrk="1" fontAlgn="base" latinLnBrk="0" hangingPunct="1">
              <a:lnSpc>
                <a:spcPct val="100000"/>
              </a:lnSpc>
              <a:spcBef>
                <a:spcPct val="0"/>
              </a:spcBef>
              <a:spcAft>
                <a:spcPct val="0"/>
              </a:spcAft>
              <a:buClrTx/>
              <a:buSzTx/>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systems that use LiDAR, cameras, and GPS system are </a:t>
            </a:r>
          </a:p>
          <a:p>
            <a:pPr marR="0" lvl="0" algn="l" defTabSz="2193857" rtl="0" eaLnBrk="1" fontAlgn="base" latinLnBrk="0" hangingPunct="1">
              <a:lnSpc>
                <a:spcPct val="100000"/>
              </a:lnSpc>
              <a:spcBef>
                <a:spcPct val="0"/>
              </a:spcBef>
              <a:spcAft>
                <a:spcPct val="0"/>
              </a:spcAft>
              <a:buClrTx/>
              <a:buSzTx/>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extremely difficult to logistically, since they require many </a:t>
            </a:r>
          </a:p>
          <a:p>
            <a:pPr marR="0" lvl="0" algn="l" defTabSz="2193857" rtl="0" eaLnBrk="1" fontAlgn="base" latinLnBrk="0" hangingPunct="1">
              <a:lnSpc>
                <a:spcPct val="100000"/>
              </a:lnSpc>
              <a:spcBef>
                <a:spcPct val="0"/>
              </a:spcBef>
              <a:spcAft>
                <a:spcPct val="0"/>
              </a:spcAft>
              <a:buClrTx/>
              <a:buSzTx/>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resources. In addition, these vehicles are not at all autonomous, meaning that they require skilled personnel to operate (</a:t>
            </a:r>
            <a:r>
              <a:rPr kumimoji="0" lang="en-US" sz="26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Geoweek</a:t>
            </a: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News 2023). </a:t>
            </a:r>
            <a:endParaRPr lang="en-US" sz="2600" b="1" dirty="0">
              <a:latin typeface="Calibri" panose="020F0502020204030204" pitchFamily="34" charset="0"/>
              <a:ea typeface="Calibri" panose="020F0502020204030204" pitchFamily="34" charset="0"/>
              <a:cs typeface="Calibri" panose="020F0502020204030204" pitchFamily="34" charset="0"/>
            </a:endParaRPr>
          </a:p>
        </p:txBody>
      </p:sp>
      <p:sp>
        <p:nvSpPr>
          <p:cNvPr id="17" name="AutoShape 32"/>
          <p:cNvSpPr>
            <a:spLocks noChangeArrowheads="1"/>
          </p:cNvSpPr>
          <p:nvPr/>
        </p:nvSpPr>
        <p:spPr bwMode="auto">
          <a:xfrm>
            <a:off x="11830803" y="11288246"/>
            <a:ext cx="9552082" cy="5616684"/>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endParaRPr lang="en-US" sz="2450" dirty="0">
              <a:latin typeface="Calibri" panose="020F0502020204030204" pitchFamily="34" charset="0"/>
              <a:ea typeface="Calibri" panose="020F0502020204030204" pitchFamily="34" charset="0"/>
              <a:cs typeface="Calibri" panose="020F0502020204030204" pitchFamily="34" charset="0"/>
            </a:endParaRPr>
          </a:p>
          <a:p>
            <a:r>
              <a:rPr lang="en-US" sz="2450" dirty="0">
                <a:latin typeface="Calibri" panose="020F0502020204030204" pitchFamily="34" charset="0"/>
                <a:ea typeface="Calibri" panose="020F0502020204030204" pitchFamily="34" charset="0"/>
                <a:cs typeface="Calibri" panose="020F0502020204030204" pitchFamily="34" charset="0"/>
              </a:rPr>
              <a:t>Figures 1 &amp; 2 (Top Left): Successful implementation of a color-based bounding box on a segment of road. Unfortunately, the model is also confused by the presence of a sidewalk, which is the same color as the road.</a:t>
            </a:r>
          </a:p>
          <a:p>
            <a:br>
              <a:rPr lang="en-US" sz="2450" dirty="0">
                <a:latin typeface="Calibri" panose="020F0502020204030204" pitchFamily="34" charset="0"/>
                <a:ea typeface="Calibri" panose="020F0502020204030204" pitchFamily="34" charset="0"/>
                <a:cs typeface="Calibri" panose="020F0502020204030204" pitchFamily="34" charset="0"/>
              </a:rPr>
            </a:br>
            <a:r>
              <a:rPr lang="en-US" sz="2450" dirty="0">
                <a:latin typeface="Calibri" panose="020F0502020204030204" pitchFamily="34" charset="0"/>
                <a:ea typeface="Calibri" panose="020F0502020204030204" pitchFamily="34" charset="0"/>
                <a:cs typeface="Calibri" panose="020F0502020204030204" pitchFamily="34" charset="0"/>
              </a:rPr>
              <a:t>Figures 3 &amp; 4 (Top Right): Successful implementation of a YOLO CV model where all pixels identified to be within the road are highlighted in green. This method is more computationally expensive, as is requires both preprocessing and postprocessing on the incoming data.</a:t>
            </a:r>
          </a:p>
          <a:p>
            <a:endParaRPr lang="en-US" sz="2450" dirty="0">
              <a:latin typeface="Calibri" panose="020F0502020204030204" pitchFamily="34" charset="0"/>
              <a:ea typeface="Calibri" panose="020F0502020204030204" pitchFamily="34" charset="0"/>
              <a:cs typeface="Calibri" panose="020F0502020204030204" pitchFamily="34" charset="0"/>
            </a:endParaRPr>
          </a:p>
          <a:p>
            <a:r>
              <a:rPr lang="en-US" sz="2450" dirty="0">
                <a:latin typeface="Calibri" panose="020F0502020204030204" pitchFamily="34" charset="0"/>
                <a:ea typeface="Calibri" panose="020F0502020204030204" pitchFamily="34" charset="0"/>
                <a:cs typeface="Calibri" panose="020F0502020204030204" pitchFamily="34" charset="0"/>
              </a:rPr>
              <a:t>Figure 5 (Right): Latency and accuracy numbers for each of the 3 models. Accuracy comes from a dataset made of online images, real-world image, and simulation images. Latency is the average over all 40 images. A Custom YOLO model was shown to be the best.</a:t>
            </a:r>
          </a:p>
        </p:txBody>
      </p:sp>
      <p:sp>
        <p:nvSpPr>
          <p:cNvPr id="20" name="AutoShape 36"/>
          <p:cNvSpPr>
            <a:spLocks noChangeArrowheads="1"/>
          </p:cNvSpPr>
          <p:nvPr/>
        </p:nvSpPr>
        <p:spPr bwMode="auto">
          <a:xfrm>
            <a:off x="33223200" y="17602621"/>
            <a:ext cx="10246588" cy="7863420"/>
          </a:xfrm>
          <a:prstGeom prst="roundRect">
            <a:avLst>
              <a:gd name="adj" fmla="val 7413"/>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74320" rIns="274320" bIns="274320" anchor="t"/>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Further Applications</a:t>
            </a:r>
          </a:p>
          <a:p>
            <a:r>
              <a:rPr lang="en-US" sz="2600" dirty="0">
                <a:latin typeface="Calibri" panose="020F0502020204030204" pitchFamily="34" charset="0"/>
                <a:ea typeface="Calibri" panose="020F0502020204030204" pitchFamily="34" charset="0"/>
                <a:cs typeface="Calibri" panose="020F0502020204030204" pitchFamily="34" charset="0"/>
              </a:rPr>
              <a:t>Currently, I am working on transferring movement from the simulation into the real world. This would complete the functionality of the drone and prove its importance outside of solely a simulated environment. In addition, I would also like to implement better logic for navigating junctions and crossroads.</a:t>
            </a: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In a disaster response scenario, drones equipped with this technology could rapidly scan and map road networks, detect blockages or damage, and relay information on how to navigate through damaged infrastructure in real time. Early detection of damaged roads could prevent accidents, guide emergency responders, and support faster recovery efforts. In a natural disaster drones equipped with this system could be deployed within minutes. They could scan road networks, identify blocked or collapsed roads, and provide real-time updates to emergency response teams. This rapid information flow could save lives by directing responders along safe routes or helping residents evacuate more quickly.</a:t>
            </a:r>
          </a:p>
        </p:txBody>
      </p:sp>
      <p:sp>
        <p:nvSpPr>
          <p:cNvPr id="24" name="AutoShape 40"/>
          <p:cNvSpPr>
            <a:spLocks noChangeArrowheads="1"/>
          </p:cNvSpPr>
          <p:nvPr/>
        </p:nvSpPr>
        <p:spPr bwMode="auto">
          <a:xfrm>
            <a:off x="33216102" y="10018915"/>
            <a:ext cx="10260435" cy="7339445"/>
          </a:xfrm>
          <a:prstGeom prst="roundRect">
            <a:avLst>
              <a:gd name="adj" fmla="val 10259"/>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lvl="0" algn="ctr">
              <a:defRPr/>
            </a:pPr>
            <a:endParaRPr lang="en-US" sz="800" b="1" dirty="0">
              <a:solidFill>
                <a:prstClr val="black"/>
              </a:solidFill>
            </a:endParaRPr>
          </a:p>
          <a:p>
            <a:pPr lvl="0" algn="ctr">
              <a:defRPr/>
            </a:pPr>
            <a:r>
              <a:rPr lang="en-US" sz="3600" b="1" dirty="0">
                <a:solidFill>
                  <a:prstClr val="black"/>
                </a:solidFill>
                <a:latin typeface="Calibri" panose="020F0502020204030204" pitchFamily="34" charset="0"/>
                <a:ea typeface="Calibri" panose="020F0502020204030204" pitchFamily="34" charset="0"/>
                <a:cs typeface="Calibri" panose="020F0502020204030204" pitchFamily="34" charset="0"/>
              </a:rPr>
              <a:t>Conclusion</a:t>
            </a:r>
            <a:endParaRPr lang="en-US" sz="3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The application of a YOLO road detection and segmentation methodology overcomes the limitations associated with approaches. By integrating instance segmentation with a Kalman filter, the model generated a stable centerline that remained resilient to transient detection flickers. This resulted in a smooth, continuous path for the drone to follow, significantly reducing the lateral "jitter" often associated with raw visual processing in autonomous flight. </a:t>
            </a: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The drone maintained high fidelity to the intended trajectory by utilizing a proportional control loop driven by the calculated horizontal error. </a:t>
            </a: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This approach shows the capabilities and feasibility of using a lightweight and mobile UAV system in autonomously tracking the infrastructure along a road and creating a road geometry map based on positional tracking. </a:t>
            </a:r>
          </a:p>
        </p:txBody>
      </p:sp>
      <p:sp>
        <p:nvSpPr>
          <p:cNvPr id="29" name="Text Box 7"/>
          <p:cNvSpPr txBox="1">
            <a:spLocks noChangeArrowheads="1"/>
          </p:cNvSpPr>
          <p:nvPr/>
        </p:nvSpPr>
        <p:spPr bwMode="auto">
          <a:xfrm>
            <a:off x="-205692" y="442571"/>
            <a:ext cx="44383020" cy="2554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7864" tIns="28932" rIns="57864" bIns="28932">
            <a:spAutoFit/>
          </a:bodyPr>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r>
              <a:rPr lang="en-US" sz="6000" b="1" dirty="0">
                <a:solidFill>
                  <a:schemeClr val="bg1"/>
                </a:solidFill>
                <a:latin typeface="Gadugi" panose="020B0502040204020203" pitchFamily="34" charset="0"/>
                <a:ea typeface="Gadugi" panose="020B0502040204020203" pitchFamily="34" charset="0"/>
              </a:rPr>
              <a:t>HERMES: A High-precision Enhanced Road-Mapper with Embedded CV Systems</a:t>
            </a:r>
          </a:p>
          <a:p>
            <a:pPr algn="ctr"/>
            <a:r>
              <a:rPr lang="en-US" sz="4000" b="1" dirty="0">
                <a:solidFill>
                  <a:schemeClr val="bg1"/>
                </a:solidFill>
                <a:latin typeface="Gadugi" panose="020B0502040204020203" pitchFamily="34" charset="0"/>
                <a:ea typeface="Gadugi" panose="020B0502040204020203" pitchFamily="34" charset="0"/>
              </a:rPr>
              <a:t>Arnav Prabhudesai</a:t>
            </a:r>
          </a:p>
          <a:p>
            <a:pPr algn="ctr"/>
            <a:r>
              <a:rPr lang="en-US" sz="4000" b="1" dirty="0">
                <a:solidFill>
                  <a:schemeClr val="bg1"/>
                </a:solidFill>
                <a:latin typeface="Gadugi" panose="020B0502040204020203" pitchFamily="34" charset="0"/>
                <a:ea typeface="Gadugi" panose="020B0502040204020203" pitchFamily="34" charset="0"/>
              </a:rPr>
              <a:t>Advisor: Dr. Crowthers</a:t>
            </a:r>
          </a:p>
          <a:p>
            <a:pPr algn="ctr"/>
            <a:endParaRPr lang="en-US" sz="2218" b="1" dirty="0">
              <a:solidFill>
                <a:schemeClr val="bg1"/>
              </a:solidFill>
              <a:latin typeface="Gadugi" panose="020B0502040204020203" pitchFamily="34" charset="0"/>
              <a:ea typeface="Gadugi" panose="020B0502040204020203" pitchFamily="34" charset="0"/>
            </a:endParaRPr>
          </a:p>
        </p:txBody>
      </p:sp>
      <p:pic>
        <p:nvPicPr>
          <p:cNvPr id="1030" name="Picture 6">
            <a:extLst>
              <a:ext uri="{FF2B5EF4-FFF2-40B4-BE49-F238E27FC236}">
                <a16:creationId xmlns:a16="http://schemas.microsoft.com/office/drawing/2014/main" id="{012B5367-F42B-5BAF-756A-84AF64A711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24322" y="-379451"/>
            <a:ext cx="3539554" cy="3539554"/>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17">
            <a:extLst>
              <a:ext uri="{FF2B5EF4-FFF2-40B4-BE49-F238E27FC236}">
                <a16:creationId xmlns:a16="http://schemas.microsoft.com/office/drawing/2014/main" id="{E68CDBE5-16D1-930A-90FB-08C4AA96932A}"/>
              </a:ext>
            </a:extLst>
          </p:cNvPr>
          <p:cNvSpPr>
            <a:spLocks noChangeArrowheads="1"/>
          </p:cNvSpPr>
          <p:nvPr/>
        </p:nvSpPr>
        <p:spPr bwMode="auto">
          <a:xfrm>
            <a:off x="11620371" y="3326705"/>
            <a:ext cx="9797094" cy="2476329"/>
          </a:xfrm>
          <a:prstGeom prst="roundRect">
            <a:avLst>
              <a:gd name="adj" fmla="val 22535"/>
            </a:avLst>
          </a:prstGeom>
          <a:solidFill>
            <a:schemeClr val="bg1">
              <a:lumMod val="85000"/>
            </a:schemeClr>
          </a:solidFill>
          <a:ln w="9525">
            <a:solidFill>
              <a:schemeClr val="tx1"/>
            </a:solidFill>
            <a:round/>
            <a:headEnd/>
            <a:tailEnd/>
          </a:ln>
          <a:effectLst/>
        </p:spPr>
        <p:txBody>
          <a:bodyPr lIns="274320" tIns="91440" rIns="274320" bIns="28932" anchor="t"/>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Problem</a:t>
            </a: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Online mapping often uses expensive, inaccurate and slow methods, resulting in maps that are not frequently updated with current data</a:t>
            </a:r>
            <a:r>
              <a:rPr lang="en-US" sz="2400" dirty="0">
                <a:latin typeface="Calibri" panose="020F0502020204030204" pitchFamily="34" charset="0"/>
                <a:ea typeface="Calibri" panose="020F0502020204030204" pitchFamily="34" charset="0"/>
                <a:cs typeface="Calibri" panose="020F0502020204030204" pitchFamily="34" charset="0"/>
              </a:rPr>
              <a:t>.</a:t>
            </a:r>
            <a:r>
              <a:rPr lang="en-US" sz="2400" b="1" dirty="0">
                <a:latin typeface="Calibri" panose="020F0502020204030204" pitchFamily="34" charset="0"/>
                <a:ea typeface="Calibri" panose="020F0502020204030204" pitchFamily="34" charset="0"/>
                <a:cs typeface="Calibri" panose="020F0502020204030204" pitchFamily="34" charset="0"/>
              </a:rPr>
              <a:t> </a:t>
            </a:r>
            <a:endParaRPr lang="en-US" sz="2400" dirty="0">
              <a:latin typeface="Calibri" panose="020F0502020204030204" pitchFamily="34" charset="0"/>
              <a:ea typeface="Calibri" panose="020F0502020204030204" pitchFamily="34" charset="0"/>
              <a:cs typeface="Calibri" panose="020F0502020204030204" pitchFamily="34" charset="0"/>
            </a:endParaRPr>
          </a:p>
          <a:p>
            <a:pPr algn="ctr"/>
            <a:endParaRPr lang="en-US" sz="3600" b="1" dirty="0">
              <a:latin typeface="Calibri" panose="020F0502020204030204" pitchFamily="34" charset="0"/>
              <a:ea typeface="Calibri" panose="020F0502020204030204" pitchFamily="34" charset="0"/>
              <a:cs typeface="Calibri" panose="020F0502020204030204" pitchFamily="34" charset="0"/>
            </a:endParaRPr>
          </a:p>
          <a:p>
            <a:pPr algn="ct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sp>
        <p:nvSpPr>
          <p:cNvPr id="31" name="AutoShape 17">
            <a:extLst>
              <a:ext uri="{FF2B5EF4-FFF2-40B4-BE49-F238E27FC236}">
                <a16:creationId xmlns:a16="http://schemas.microsoft.com/office/drawing/2014/main" id="{D0A22A98-EE3A-5543-EC40-1EBEFF48382B}"/>
              </a:ext>
            </a:extLst>
          </p:cNvPr>
          <p:cNvSpPr>
            <a:spLocks noChangeArrowheads="1"/>
          </p:cNvSpPr>
          <p:nvPr/>
        </p:nvSpPr>
        <p:spPr bwMode="auto">
          <a:xfrm>
            <a:off x="21754425" y="3308284"/>
            <a:ext cx="11160644" cy="2490030"/>
          </a:xfrm>
          <a:prstGeom prst="roundRect">
            <a:avLst>
              <a:gd name="adj" fmla="val 25191"/>
            </a:avLst>
          </a:prstGeom>
          <a:solidFill>
            <a:schemeClr val="bg1">
              <a:lumMod val="85000"/>
            </a:schemeClr>
          </a:solidFill>
          <a:ln w="9525">
            <a:solidFill>
              <a:schemeClr val="tx1"/>
            </a:solidFill>
            <a:round/>
            <a:headEnd/>
            <a:tailEnd/>
          </a:ln>
          <a:effectLst/>
        </p:spPr>
        <p:txBody>
          <a:bodyPr lIns="274320" tIns="91440" rIns="274320" bIns="28932" anchor="t"/>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Objective</a:t>
            </a: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The aim of this project is to build a drone that can autonomously map a road system using a CV model that works in many different conditions</a:t>
            </a:r>
            <a:r>
              <a:rPr lang="en-US" sz="2400" dirty="0">
                <a:latin typeface="Calibri" panose="020F0502020204030204" pitchFamily="34" charset="0"/>
                <a:ea typeface="Calibri" panose="020F0502020204030204" pitchFamily="34" charset="0"/>
                <a:cs typeface="Calibri" panose="020F0502020204030204" pitchFamily="34" charset="0"/>
              </a:rPr>
              <a:t>. </a:t>
            </a:r>
            <a:endParaRPr lang="en-US" sz="2400" b="1" dirty="0">
              <a:latin typeface="Calibri" panose="020F0502020204030204" pitchFamily="34" charset="0"/>
              <a:ea typeface="Calibri" panose="020F0502020204030204" pitchFamily="34" charset="0"/>
              <a:cs typeface="Calibri" panose="020F0502020204030204" pitchFamily="34" charset="0"/>
            </a:endParaRPr>
          </a:p>
          <a:p>
            <a:pPr algn="ct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sp>
        <p:nvSpPr>
          <p:cNvPr id="32" name="AutoShape 20">
            <a:extLst>
              <a:ext uri="{FF2B5EF4-FFF2-40B4-BE49-F238E27FC236}">
                <a16:creationId xmlns:a16="http://schemas.microsoft.com/office/drawing/2014/main" id="{07D11BA0-05CE-5144-8C5A-7F7768D887AD}"/>
              </a:ext>
            </a:extLst>
          </p:cNvPr>
          <p:cNvSpPr>
            <a:spLocks noChangeArrowheads="1"/>
          </p:cNvSpPr>
          <p:nvPr/>
        </p:nvSpPr>
        <p:spPr bwMode="auto">
          <a:xfrm>
            <a:off x="434376" y="19486936"/>
            <a:ext cx="10995625" cy="8472291"/>
          </a:xfrm>
          <a:prstGeom prst="roundRect">
            <a:avLst>
              <a:gd name="adj" fmla="val 8033"/>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91440" rIns="274320" bIns="182880" anchor="t"/>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Research Objectives</a:t>
            </a:r>
          </a:p>
          <a:p>
            <a:pPr marR="0" lvl="0" algn="l" defTabSz="914400" rtl="0" eaLnBrk="1" fontAlgn="auto" latinLnBrk="0" hangingPunct="1">
              <a:lnSpc>
                <a:spcPct val="90000"/>
              </a:lnSpc>
              <a:spcBef>
                <a:spcPts val="1000"/>
              </a:spcBef>
              <a:spcAft>
                <a:spcPts val="0"/>
              </a:spcAft>
              <a:buClrTx/>
              <a:buSzTx/>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goal of this project is to engineer a system that is capable of autonomously mapping a road system and send that data, including traffic information, to the user’s device. The expected outcome of this work is a robust, low-cost, and scalable drone capable of producing high-resolution road maps in areas with limited prior coverage.</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33" name="AutoShape 32">
            <a:extLst>
              <a:ext uri="{FF2B5EF4-FFF2-40B4-BE49-F238E27FC236}">
                <a16:creationId xmlns:a16="http://schemas.microsoft.com/office/drawing/2014/main" id="{2D62AEC7-07AF-6694-D20D-E7690653CB34}"/>
              </a:ext>
            </a:extLst>
          </p:cNvPr>
          <p:cNvSpPr>
            <a:spLocks noChangeArrowheads="1"/>
          </p:cNvSpPr>
          <p:nvPr/>
        </p:nvSpPr>
        <p:spPr bwMode="auto">
          <a:xfrm>
            <a:off x="11836296" y="7201893"/>
            <a:ext cx="9552082" cy="3857268"/>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marL="0" marR="0" lvl="0" indent="0" algn="ctr" defTabSz="2193857"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a:p>
            <a:pPr marL="0" marR="0" lvl="0" indent="0" algn="ctr" defTabSz="2193857" rtl="0" eaLnBrk="1" fontAlgn="base" latinLnBrk="0" hangingPunct="1">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Bounding Box Detection</a:t>
            </a:r>
          </a:p>
          <a:p>
            <a:pPr algn="ctr"/>
            <a:endParaRPr lang="en-US" sz="2122" dirty="0">
              <a:latin typeface="+mn-lt"/>
            </a:endParaRPr>
          </a:p>
          <a:p>
            <a:pPr algn="ctr"/>
            <a:endParaRPr lang="en-US" sz="2122"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p:txBody>
      </p:sp>
      <p:pic>
        <p:nvPicPr>
          <p:cNvPr id="35" name="Picture 34" descr="A screenshot of a computer screen&#10;&#10;AI-generated content may be incorrect.">
            <a:extLst>
              <a:ext uri="{FF2B5EF4-FFF2-40B4-BE49-F238E27FC236}">
                <a16:creationId xmlns:a16="http://schemas.microsoft.com/office/drawing/2014/main" id="{DC25D858-E5FC-5B0B-1537-26C64E1BACCC}"/>
              </a:ext>
            </a:extLst>
          </p:cNvPr>
          <p:cNvPicPr>
            <a:picLocks noChangeAspect="1"/>
          </p:cNvPicPr>
          <p:nvPr/>
        </p:nvPicPr>
        <p:blipFill>
          <a:blip r:embed="rId4"/>
          <a:srcRect l="4400" t="5431" r="20794" b="64175"/>
          <a:stretch>
            <a:fillRect/>
          </a:stretch>
        </p:blipFill>
        <p:spPr>
          <a:xfrm>
            <a:off x="11950278" y="8043363"/>
            <a:ext cx="4528842" cy="2543499"/>
          </a:xfrm>
          <a:prstGeom prst="rect">
            <a:avLst/>
          </a:prstGeom>
        </p:spPr>
      </p:pic>
      <p:pic>
        <p:nvPicPr>
          <p:cNvPr id="36" name="Picture 35" descr="A screenshot of a computer screen&#10;&#10;AI-generated content may be incorrect.">
            <a:extLst>
              <a:ext uri="{FF2B5EF4-FFF2-40B4-BE49-F238E27FC236}">
                <a16:creationId xmlns:a16="http://schemas.microsoft.com/office/drawing/2014/main" id="{6DC7DA63-7B25-A492-B2C4-9BE2D0DA4FE8}"/>
              </a:ext>
            </a:extLst>
          </p:cNvPr>
          <p:cNvPicPr>
            <a:picLocks noChangeAspect="1"/>
          </p:cNvPicPr>
          <p:nvPr/>
        </p:nvPicPr>
        <p:blipFill>
          <a:blip r:embed="rId4"/>
          <a:srcRect l="21045" t="63030" r="6223" b="6812"/>
          <a:stretch>
            <a:fillRect/>
          </a:stretch>
        </p:blipFill>
        <p:spPr>
          <a:xfrm>
            <a:off x="16759680" y="8026347"/>
            <a:ext cx="4467247" cy="2560515"/>
          </a:xfrm>
          <a:prstGeom prst="rect">
            <a:avLst/>
          </a:prstGeom>
        </p:spPr>
      </p:pic>
      <p:graphicFrame>
        <p:nvGraphicFramePr>
          <p:cNvPr id="3" name="Table 2">
            <a:extLst>
              <a:ext uri="{FF2B5EF4-FFF2-40B4-BE49-F238E27FC236}">
                <a16:creationId xmlns:a16="http://schemas.microsoft.com/office/drawing/2014/main" id="{BA35303C-A9EF-6B70-A2C4-C8E72B73D93B}"/>
              </a:ext>
            </a:extLst>
          </p:cNvPr>
          <p:cNvGraphicFramePr>
            <a:graphicFrameLocks noGrp="1"/>
          </p:cNvGraphicFramePr>
          <p:nvPr>
            <p:extLst>
              <p:ext uri="{D42A27DB-BD31-4B8C-83A1-F6EECF244321}">
                <p14:modId xmlns:p14="http://schemas.microsoft.com/office/powerpoint/2010/main" val="198579926"/>
              </p:ext>
            </p:extLst>
          </p:nvPr>
        </p:nvGraphicFramePr>
        <p:xfrm>
          <a:off x="12163226" y="17928351"/>
          <a:ext cx="8890545" cy="3657600"/>
        </p:xfrm>
        <a:graphic>
          <a:graphicData uri="http://schemas.openxmlformats.org/drawingml/2006/table">
            <a:tbl>
              <a:tblPr/>
              <a:tblGrid>
                <a:gridCol w="1778109">
                  <a:extLst>
                    <a:ext uri="{9D8B030D-6E8A-4147-A177-3AD203B41FA5}">
                      <a16:colId xmlns:a16="http://schemas.microsoft.com/office/drawing/2014/main" val="2687357382"/>
                    </a:ext>
                  </a:extLst>
                </a:gridCol>
                <a:gridCol w="1778109">
                  <a:extLst>
                    <a:ext uri="{9D8B030D-6E8A-4147-A177-3AD203B41FA5}">
                      <a16:colId xmlns:a16="http://schemas.microsoft.com/office/drawing/2014/main" val="1763111372"/>
                    </a:ext>
                  </a:extLst>
                </a:gridCol>
                <a:gridCol w="1778109">
                  <a:extLst>
                    <a:ext uri="{9D8B030D-6E8A-4147-A177-3AD203B41FA5}">
                      <a16:colId xmlns:a16="http://schemas.microsoft.com/office/drawing/2014/main" val="181866196"/>
                    </a:ext>
                  </a:extLst>
                </a:gridCol>
                <a:gridCol w="1778109">
                  <a:extLst>
                    <a:ext uri="{9D8B030D-6E8A-4147-A177-3AD203B41FA5}">
                      <a16:colId xmlns:a16="http://schemas.microsoft.com/office/drawing/2014/main" val="141707753"/>
                    </a:ext>
                  </a:extLst>
                </a:gridCol>
                <a:gridCol w="1778109">
                  <a:extLst>
                    <a:ext uri="{9D8B030D-6E8A-4147-A177-3AD203B41FA5}">
                      <a16:colId xmlns:a16="http://schemas.microsoft.com/office/drawing/2014/main" val="3459461114"/>
                    </a:ext>
                  </a:extLst>
                </a:gridCol>
              </a:tblGrid>
              <a:tr h="822960">
                <a:tc>
                  <a:txBody>
                    <a:bodyPr/>
                    <a:lstStyle/>
                    <a:p>
                      <a:pPr>
                        <a:buNone/>
                      </a:pPr>
                      <a:r>
                        <a:rPr lang="en-US" sz="2400" dirty="0"/>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Accuracy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Direction (1/3)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Latency (1/6)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dirty="0"/>
                        <a:t>Ideality</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7431576"/>
                  </a:ext>
                </a:extLst>
              </a:tr>
              <a:tr h="822960">
                <a:tc>
                  <a:txBody>
                    <a:bodyPr/>
                    <a:lstStyle/>
                    <a:p>
                      <a:pPr>
                        <a:buNone/>
                      </a:pPr>
                      <a:r>
                        <a:rPr lang="en-US" sz="2400" b="1"/>
                        <a:t>Custom YOLO</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40/40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058123" rtl="0" eaLnBrk="1" fontAlgn="auto" latinLnBrk="0" hangingPunct="1">
                        <a:lnSpc>
                          <a:spcPct val="100000"/>
                        </a:lnSpc>
                        <a:spcBef>
                          <a:spcPts val="0"/>
                        </a:spcBef>
                        <a:spcAft>
                          <a:spcPts val="0"/>
                        </a:spcAft>
                        <a:buClrTx/>
                        <a:buSzTx/>
                        <a:buFontTx/>
                        <a:buNone/>
                        <a:tabLst/>
                        <a:defRPr/>
                      </a:pPr>
                      <a:r>
                        <a:rPr lang="en-US" sz="2400" dirty="0"/>
                        <a:t>37/40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dirty="0"/>
                        <a:t>0.807</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0984298"/>
                  </a:ext>
                </a:extLst>
              </a:tr>
              <a:tr h="1188720">
                <a:tc>
                  <a:txBody>
                    <a:bodyPr/>
                    <a:lstStyle/>
                    <a:p>
                      <a:pPr>
                        <a:buNone/>
                      </a:pPr>
                      <a:r>
                        <a:rPr lang="en-US" sz="2400" b="1"/>
                        <a:t>Color Bounding Box</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38/40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7/40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dirty="0"/>
                        <a:t>0.485</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6465011"/>
                  </a:ext>
                </a:extLst>
              </a:tr>
              <a:tr h="822960">
                <a:tc>
                  <a:txBody>
                    <a:bodyPr/>
                    <a:lstStyle/>
                    <a:p>
                      <a:pPr>
                        <a:buNone/>
                      </a:pPr>
                      <a:r>
                        <a:rPr lang="en-US" sz="2400" b="1"/>
                        <a:t>Pretrained YOLO</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14/40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4/40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142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dirty="0"/>
                        <a:t>0.000</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5419352"/>
                  </a:ext>
                </a:extLst>
              </a:tr>
            </a:tbl>
          </a:graphicData>
        </a:graphic>
      </p:graphicFrame>
      <p:sp>
        <p:nvSpPr>
          <p:cNvPr id="8" name="AutoShape 17">
            <a:extLst>
              <a:ext uri="{FF2B5EF4-FFF2-40B4-BE49-F238E27FC236}">
                <a16:creationId xmlns:a16="http://schemas.microsoft.com/office/drawing/2014/main" id="{9962808F-BE7E-2F20-770A-DFED57353FE0}"/>
              </a:ext>
            </a:extLst>
          </p:cNvPr>
          <p:cNvSpPr>
            <a:spLocks noChangeArrowheads="1"/>
          </p:cNvSpPr>
          <p:nvPr/>
        </p:nvSpPr>
        <p:spPr bwMode="auto">
          <a:xfrm>
            <a:off x="434375" y="3326706"/>
            <a:ext cx="10995626" cy="7007158"/>
          </a:xfrm>
          <a:prstGeom prst="roundRect">
            <a:avLst>
              <a:gd name="adj" fmla="val 8519"/>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91440" rIns="274320" bIns="182880" anchor="t"/>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Graphical Abstract</a:t>
            </a:r>
          </a:p>
          <a:p>
            <a:pPr algn="ctr"/>
            <a:endParaRPr lang="en-US" sz="530" dirty="0">
              <a:latin typeface="Cambria" panose="02040503050406030204" pitchFamily="18" charset="0"/>
              <a:ea typeface="Cambria" panose="02040503050406030204" pitchFamily="18" charset="0"/>
            </a:endParaRPr>
          </a:p>
          <a:p>
            <a:pPr algn="just"/>
            <a:r>
              <a:rPr lang="en-US" sz="2400" b="1" dirty="0">
                <a:latin typeface="Cambria" panose="02040503050406030204" pitchFamily="18" charset="0"/>
                <a:ea typeface="Cambria" panose="02040503050406030204" pitchFamily="18" charset="0"/>
              </a:rPr>
              <a:t>  </a:t>
            </a:r>
          </a:p>
        </p:txBody>
      </p:sp>
      <p:grpSp>
        <p:nvGrpSpPr>
          <p:cNvPr id="11" name="Group 10">
            <a:extLst>
              <a:ext uri="{FF2B5EF4-FFF2-40B4-BE49-F238E27FC236}">
                <a16:creationId xmlns:a16="http://schemas.microsoft.com/office/drawing/2014/main" id="{2C5EAF88-67BE-122A-C436-4A2A61340EE6}"/>
              </a:ext>
            </a:extLst>
          </p:cNvPr>
          <p:cNvGrpSpPr/>
          <p:nvPr/>
        </p:nvGrpSpPr>
        <p:grpSpPr>
          <a:xfrm>
            <a:off x="845549" y="4281309"/>
            <a:ext cx="10157731" cy="5884289"/>
            <a:chOff x="7043131" y="1575352"/>
            <a:chExt cx="8154538" cy="4654774"/>
          </a:xfrm>
        </p:grpSpPr>
        <p:pic>
          <p:nvPicPr>
            <p:cNvPr id="13" name="Picture 12">
              <a:extLst>
                <a:ext uri="{FF2B5EF4-FFF2-40B4-BE49-F238E27FC236}">
                  <a16:creationId xmlns:a16="http://schemas.microsoft.com/office/drawing/2014/main" id="{F9FB67F3-0BCF-9BA1-D0C1-46327D7B0D46}"/>
                </a:ext>
              </a:extLst>
            </p:cNvPr>
            <p:cNvPicPr>
              <a:picLocks noChangeAspect="1"/>
            </p:cNvPicPr>
            <p:nvPr/>
          </p:nvPicPr>
          <p:blipFill>
            <a:blip r:embed="rId5">
              <a:extLst>
                <a:ext uri="{28A0092B-C50C-407E-A947-70E740481C1C}">
                  <a14:useLocalDpi xmlns:a14="http://schemas.microsoft.com/office/drawing/2010/main" val="0"/>
                </a:ext>
              </a:extLst>
            </a:blip>
            <a:srcRect b="10509"/>
            <a:stretch>
              <a:fillRect/>
            </a:stretch>
          </p:blipFill>
          <p:spPr>
            <a:xfrm>
              <a:off x="7043131" y="1575352"/>
              <a:ext cx="8154538" cy="4654774"/>
            </a:xfrm>
            <a:prstGeom prst="rect">
              <a:avLst/>
            </a:prstGeom>
          </p:spPr>
        </p:pic>
        <p:pic>
          <p:nvPicPr>
            <p:cNvPr id="14" name="Picture 13">
              <a:extLst>
                <a:ext uri="{FF2B5EF4-FFF2-40B4-BE49-F238E27FC236}">
                  <a16:creationId xmlns:a16="http://schemas.microsoft.com/office/drawing/2014/main" id="{67CF7E40-A233-C5AD-606F-A540D7B0AC58}"/>
                </a:ext>
              </a:extLst>
            </p:cNvPr>
            <p:cNvPicPr>
              <a:picLocks noChangeAspect="1"/>
            </p:cNvPicPr>
            <p:nvPr/>
          </p:nvPicPr>
          <p:blipFill>
            <a:blip r:embed="rId6"/>
            <a:stretch>
              <a:fillRect/>
            </a:stretch>
          </p:blipFill>
          <p:spPr>
            <a:xfrm rot="10800000" flipH="1">
              <a:off x="9467182" y="2276392"/>
              <a:ext cx="119079" cy="676370"/>
            </a:xfrm>
            <a:prstGeom prst="rect">
              <a:avLst/>
            </a:prstGeom>
          </p:spPr>
        </p:pic>
      </p:grpSp>
      <p:pic>
        <p:nvPicPr>
          <p:cNvPr id="1028" name="Picture 4">
            <a:extLst>
              <a:ext uri="{FF2B5EF4-FFF2-40B4-BE49-F238E27FC236}">
                <a16:creationId xmlns:a16="http://schemas.microsoft.com/office/drawing/2014/main" id="{C72BD82C-7FBD-5023-5327-2CD407C21F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25129" y="14925520"/>
            <a:ext cx="4204834" cy="32061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60841CB-828E-4B4D-EC44-6487E4BD5348}"/>
              </a:ext>
            </a:extLst>
          </p:cNvPr>
          <p:cNvPicPr>
            <a:picLocks noChangeAspect="1"/>
          </p:cNvPicPr>
          <p:nvPr/>
        </p:nvPicPr>
        <p:blipFill>
          <a:blip r:embed="rId8"/>
          <a:srcRect t="34694" r="12118"/>
          <a:stretch>
            <a:fillRect/>
          </a:stretch>
        </p:blipFill>
        <p:spPr>
          <a:xfrm>
            <a:off x="1505133" y="24317030"/>
            <a:ext cx="8606265" cy="3585403"/>
          </a:xfrm>
          <a:prstGeom prst="rect">
            <a:avLst/>
          </a:prstGeom>
        </p:spPr>
      </p:pic>
      <p:pic>
        <p:nvPicPr>
          <p:cNvPr id="28" name="Picture 27" descr="A green road with yellow lines&#10;&#10;AI-generated content may be incorrect.">
            <a:extLst>
              <a:ext uri="{FF2B5EF4-FFF2-40B4-BE49-F238E27FC236}">
                <a16:creationId xmlns:a16="http://schemas.microsoft.com/office/drawing/2014/main" id="{6F971B96-9138-7010-735E-8764812F3502}"/>
              </a:ext>
            </a:extLst>
          </p:cNvPr>
          <p:cNvPicPr>
            <a:picLocks noChangeAspect="1"/>
          </p:cNvPicPr>
          <p:nvPr/>
        </p:nvPicPr>
        <p:blipFill>
          <a:blip r:embed="rId9"/>
          <a:stretch>
            <a:fillRect/>
          </a:stretch>
        </p:blipFill>
        <p:spPr>
          <a:xfrm>
            <a:off x="27631775" y="8015370"/>
            <a:ext cx="4750908" cy="3164104"/>
          </a:xfrm>
          <a:prstGeom prst="rect">
            <a:avLst/>
          </a:prstGeom>
        </p:spPr>
      </p:pic>
      <p:pic>
        <p:nvPicPr>
          <p:cNvPr id="34" name="Picture 33" descr="A white light in a black background&#10;&#10;AI-generated content may be incorrect.">
            <a:extLst>
              <a:ext uri="{FF2B5EF4-FFF2-40B4-BE49-F238E27FC236}">
                <a16:creationId xmlns:a16="http://schemas.microsoft.com/office/drawing/2014/main" id="{6E69420C-FB4D-5596-0C69-C0050B3D2B14}"/>
              </a:ext>
            </a:extLst>
          </p:cNvPr>
          <p:cNvPicPr>
            <a:picLocks noChangeAspect="1"/>
          </p:cNvPicPr>
          <p:nvPr/>
        </p:nvPicPr>
        <p:blipFill>
          <a:blip r:embed="rId10"/>
          <a:stretch>
            <a:fillRect/>
          </a:stretch>
        </p:blipFill>
        <p:spPr>
          <a:xfrm>
            <a:off x="22116004" y="8015370"/>
            <a:ext cx="4739140" cy="3156267"/>
          </a:xfrm>
          <a:prstGeom prst="rect">
            <a:avLst/>
          </a:prstGeom>
        </p:spPr>
      </p:pic>
      <p:sp>
        <p:nvSpPr>
          <p:cNvPr id="49" name="AutoShape 32">
            <a:extLst>
              <a:ext uri="{FF2B5EF4-FFF2-40B4-BE49-F238E27FC236}">
                <a16:creationId xmlns:a16="http://schemas.microsoft.com/office/drawing/2014/main" id="{1F3F4E83-9EC5-26EF-DE91-9DB76838DD0A}"/>
              </a:ext>
            </a:extLst>
          </p:cNvPr>
          <p:cNvSpPr>
            <a:spLocks noChangeArrowheads="1"/>
          </p:cNvSpPr>
          <p:nvPr/>
        </p:nvSpPr>
        <p:spPr bwMode="auto">
          <a:xfrm>
            <a:off x="11830801" y="22049206"/>
            <a:ext cx="9552083" cy="5255801"/>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marL="0" marR="0" lvl="0" indent="0" algn="ctr" defTabSz="2193857"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a:p>
            <a:pPr marL="0" marR="0" lvl="0" indent="0" algn="ctr" defTabSz="2193857" rtl="0" eaLnBrk="1" fontAlgn="base" latinLnBrk="0" hangingPunct="1">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Road Centerline Detection</a:t>
            </a:r>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In order to find the center of the road, a program divides the green segmented area into rows. It then finds the midpoint of each row and applies a Kalman filter in order the smooth the centerline.</a:t>
            </a:r>
          </a:p>
          <a:p>
            <a:endParaRPr lang="en-US" sz="2600" dirty="0">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Figure 7 (right): Isolated centerline</a:t>
            </a:r>
          </a:p>
          <a:p>
            <a:r>
              <a:rPr lang="en-US" sz="2400" dirty="0">
                <a:latin typeface="Calibri" panose="020F0502020204030204" pitchFamily="34" charset="0"/>
                <a:ea typeface="Calibri" panose="020F0502020204030204" pitchFamily="34" charset="0"/>
                <a:cs typeface="Calibri" panose="020F0502020204030204" pitchFamily="34" charset="0"/>
              </a:rPr>
              <a:t>in red for a segmented road image</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48" name="Picture 47">
            <a:extLst>
              <a:ext uri="{FF2B5EF4-FFF2-40B4-BE49-F238E27FC236}">
                <a16:creationId xmlns:a16="http://schemas.microsoft.com/office/drawing/2014/main" id="{D31FE22E-8A7B-C7AF-6AE9-BD09C988A708}"/>
              </a:ext>
            </a:extLst>
          </p:cNvPr>
          <p:cNvPicPr>
            <a:picLocks noChangeAspect="1"/>
          </p:cNvPicPr>
          <p:nvPr/>
        </p:nvPicPr>
        <p:blipFill>
          <a:blip r:embed="rId11"/>
          <a:stretch>
            <a:fillRect/>
          </a:stretch>
        </p:blipFill>
        <p:spPr>
          <a:xfrm>
            <a:off x="16587585" y="24208141"/>
            <a:ext cx="4099943" cy="2738762"/>
          </a:xfrm>
          <a:prstGeom prst="rect">
            <a:avLst/>
          </a:prstGeom>
        </p:spPr>
      </p:pic>
      <p:sp>
        <p:nvSpPr>
          <p:cNvPr id="54" name="AutoShape 36">
            <a:extLst>
              <a:ext uri="{FF2B5EF4-FFF2-40B4-BE49-F238E27FC236}">
                <a16:creationId xmlns:a16="http://schemas.microsoft.com/office/drawing/2014/main" id="{ED8FF620-B75C-0650-1794-3D32214C5F93}"/>
              </a:ext>
            </a:extLst>
          </p:cNvPr>
          <p:cNvSpPr>
            <a:spLocks noChangeArrowheads="1"/>
          </p:cNvSpPr>
          <p:nvPr/>
        </p:nvSpPr>
        <p:spPr bwMode="auto">
          <a:xfrm>
            <a:off x="434375" y="28137269"/>
            <a:ext cx="10995627" cy="4506811"/>
          </a:xfrm>
          <a:prstGeom prst="round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74320" rIns="274320" bIns="27432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Camera </a:t>
            </a:r>
            <a:r>
              <a:rPr lang="en-US" sz="3600" b="1" dirty="0">
                <a:latin typeface="Calibri" panose="020F0502020204030204" pitchFamily="34" charset="0"/>
                <a:ea typeface="Calibri" panose="020F0502020204030204" pitchFamily="34" charset="0"/>
                <a:cs typeface="Calibri" panose="020F0502020204030204" pitchFamily="34" charset="0"/>
              </a:rPr>
              <a:t>Vision</a:t>
            </a:r>
          </a:p>
          <a:p>
            <a:r>
              <a:rPr lang="en-US" sz="2600" dirty="0">
                <a:latin typeface="Calibri" panose="020F0502020204030204" pitchFamily="34" charset="0"/>
                <a:ea typeface="Calibri" panose="020F0502020204030204" pitchFamily="34" charset="0"/>
                <a:cs typeface="Calibri" panose="020F0502020204030204" pitchFamily="34" charset="0"/>
              </a:rPr>
              <a:t>The drone can use two main strategies to find the road. The first strategy, using a bounding box, involves finding the color of the road manually. After that, the camera will filter for this color. On the other hand, it is also possible to use image classification, which decides whether each pixel is part of the road. Image classification is much more consistent and precise. However, it is also more computationally heavy (Singh &amp; Verma, 2024). Image classification can either use a framework like YOLO, or a premade neural network. </a:t>
            </a:r>
            <a:br>
              <a:rPr lang="en-US" sz="2400" dirty="0">
                <a:latin typeface="Calibri" panose="020F0502020204030204" pitchFamily="34" charset="0"/>
                <a:ea typeface="Calibri" panose="020F0502020204030204" pitchFamily="34" charset="0"/>
                <a:cs typeface="Calibri" panose="020F0502020204030204" pitchFamily="34" charset="0"/>
              </a:rPr>
            </a:b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048FA9C4-0374-EC14-F93D-A3FD54AAFAE2}"/>
              </a:ext>
            </a:extLst>
          </p:cNvPr>
          <p:cNvPicPr>
            <a:picLocks noChangeAspect="1"/>
          </p:cNvPicPr>
          <p:nvPr/>
        </p:nvPicPr>
        <p:blipFill>
          <a:blip r:embed="rId12"/>
          <a:stretch>
            <a:fillRect/>
          </a:stretch>
        </p:blipFill>
        <p:spPr>
          <a:xfrm>
            <a:off x="30944221" y="17710324"/>
            <a:ext cx="957215" cy="4722258"/>
          </a:xfrm>
          <a:prstGeom prst="rect">
            <a:avLst/>
          </a:prstGeom>
        </p:spPr>
      </p:pic>
      <p:sp>
        <p:nvSpPr>
          <p:cNvPr id="22" name="AutoShape 36">
            <a:extLst>
              <a:ext uri="{FF2B5EF4-FFF2-40B4-BE49-F238E27FC236}">
                <a16:creationId xmlns:a16="http://schemas.microsoft.com/office/drawing/2014/main" id="{22C2CCC1-24CE-4007-F4E9-C28EC5E1CC3A}"/>
              </a:ext>
            </a:extLst>
          </p:cNvPr>
          <p:cNvSpPr>
            <a:spLocks noChangeArrowheads="1"/>
          </p:cNvSpPr>
          <p:nvPr/>
        </p:nvSpPr>
        <p:spPr bwMode="auto">
          <a:xfrm>
            <a:off x="33223200" y="25718747"/>
            <a:ext cx="10246588" cy="6925333"/>
          </a:xfrm>
          <a:prstGeom prst="roundRect">
            <a:avLst>
              <a:gd name="adj" fmla="val 6545"/>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74320" rIns="274320" bIns="274320" anchor="t"/>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References</a:t>
            </a:r>
          </a:p>
          <a:p>
            <a:pPr marL="457200" indent="-457200">
              <a:spcAft>
                <a:spcPts val="800"/>
              </a:spcAft>
            </a:pPr>
            <a:r>
              <a:rPr lang="en-US" sz="2400" dirty="0" err="1">
                <a:latin typeface="Calibri" panose="020F0502020204030204" pitchFamily="34" charset="0"/>
                <a:ea typeface="Calibri" panose="020F0502020204030204" pitchFamily="34" charset="0"/>
                <a:cs typeface="Calibri" panose="020F0502020204030204" pitchFamily="34" charset="0"/>
              </a:rPr>
              <a:t>Geoweek</a:t>
            </a:r>
            <a:r>
              <a:rPr lang="en-US" sz="2400" dirty="0">
                <a:latin typeface="Calibri" panose="020F0502020204030204" pitchFamily="34" charset="0"/>
                <a:ea typeface="Calibri" panose="020F0502020204030204" pitchFamily="34" charset="0"/>
                <a:cs typeface="Calibri" panose="020F0502020204030204" pitchFamily="34" charset="0"/>
              </a:rPr>
              <a:t> News. (2023). </a:t>
            </a:r>
            <a:r>
              <a:rPr lang="en-US" sz="2400" i="1" dirty="0">
                <a:latin typeface="Calibri" panose="020F0502020204030204" pitchFamily="34" charset="0"/>
                <a:ea typeface="Calibri" panose="020F0502020204030204" pitchFamily="34" charset="0"/>
                <a:cs typeface="Calibri" panose="020F0502020204030204" pitchFamily="34" charset="0"/>
              </a:rPr>
              <a:t>The state of vehicle-based mobile mapping systems</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u="sng" dirty="0">
                <a:solidFill>
                  <a:srgbClr val="0000FF"/>
                </a:solidFill>
                <a:latin typeface="Calibri" panose="020F0502020204030204" pitchFamily="34" charset="0"/>
                <a:ea typeface="Calibri" panose="020F0502020204030204" pitchFamily="34" charset="0"/>
                <a:cs typeface="Calibri" panose="020F0502020204030204" pitchFamily="34" charset="0"/>
                <a:hlinkClick r:id="rId13"/>
              </a:rPr>
              <a:t>https://www.geoweeknews.com/news/mobile-mapping-lidar-software-hardware-trimble-leica-riegl</a:t>
            </a:r>
            <a:r>
              <a:rPr lang="en-US" sz="2400" b="1" dirty="0">
                <a:latin typeface="Calibri" panose="020F0502020204030204" pitchFamily="34" charset="0"/>
                <a:ea typeface="Calibri" panose="020F0502020204030204" pitchFamily="34" charset="0"/>
                <a:cs typeface="Calibri" panose="020F0502020204030204" pitchFamily="34" charset="0"/>
              </a:rPr>
              <a:t> </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457200" marR="0" indent="-457200">
              <a:spcAft>
                <a:spcPts val="800"/>
              </a:spcAft>
              <a:buNone/>
            </a:pPr>
            <a:r>
              <a:rPr lang="en-US" sz="2400" dirty="0">
                <a:latin typeface="Calibri" panose="020F0502020204030204" pitchFamily="34" charset="0"/>
                <a:ea typeface="Calibri" panose="020F0502020204030204" pitchFamily="34" charset="0"/>
                <a:cs typeface="Calibri" panose="020F0502020204030204" pitchFamily="34" charset="0"/>
              </a:rPr>
              <a:t>Microsoft. (2023). </a:t>
            </a:r>
            <a:r>
              <a:rPr lang="en-US" sz="2400" i="1" dirty="0">
                <a:latin typeface="Calibri" panose="020F0502020204030204" pitchFamily="34" charset="0"/>
                <a:ea typeface="Calibri" panose="020F0502020204030204" pitchFamily="34" charset="0"/>
                <a:cs typeface="Calibri" panose="020F0502020204030204" pitchFamily="34" charset="0"/>
              </a:rPr>
              <a:t>AirSim (Version 1.8.1) [Computer software]</a:t>
            </a:r>
            <a:r>
              <a:rPr lang="en-US" sz="2400" dirty="0">
                <a:latin typeface="Calibri" panose="020F0502020204030204" pitchFamily="34" charset="0"/>
                <a:ea typeface="Calibri" panose="020F0502020204030204" pitchFamily="34" charset="0"/>
                <a:cs typeface="Calibri" panose="020F0502020204030204" pitchFamily="34" charset="0"/>
              </a:rPr>
              <a:t>. GitHub. </a:t>
            </a:r>
            <a:r>
              <a:rPr lang="en-US" sz="2400" u="sng" dirty="0">
                <a:solidFill>
                  <a:srgbClr val="0000FF"/>
                </a:solidFill>
                <a:latin typeface="Calibri" panose="020F0502020204030204" pitchFamily="34" charset="0"/>
                <a:ea typeface="Calibri" panose="020F0502020204030204" pitchFamily="34" charset="0"/>
                <a:cs typeface="Calibri" panose="020F0502020204030204" pitchFamily="34" charset="0"/>
                <a:hlinkClick r:id="rId14"/>
              </a:rPr>
              <a:t>https://github.com/microsoft/AirSim</a:t>
            </a:r>
            <a:r>
              <a:rPr lang="en-US" sz="2400" dirty="0">
                <a:latin typeface="Calibri" panose="020F0502020204030204" pitchFamily="34" charset="0"/>
                <a:ea typeface="Calibri" panose="020F0502020204030204" pitchFamily="34" charset="0"/>
                <a:cs typeface="Calibri" panose="020F0502020204030204" pitchFamily="34" charset="0"/>
              </a:rPr>
              <a:t>Redmon, J., </a:t>
            </a:r>
            <a:r>
              <a:rPr lang="en-US" sz="2400" dirty="0" err="1">
                <a:latin typeface="Calibri" panose="020F0502020204030204" pitchFamily="34" charset="0"/>
                <a:ea typeface="Calibri" panose="020F0502020204030204" pitchFamily="34" charset="0"/>
                <a:cs typeface="Calibri" panose="020F0502020204030204" pitchFamily="34" charset="0"/>
              </a:rPr>
              <a:t>Divvala</a:t>
            </a:r>
            <a:r>
              <a:rPr lang="en-US" sz="2400" dirty="0">
                <a:latin typeface="Calibri" panose="020F0502020204030204" pitchFamily="34" charset="0"/>
                <a:ea typeface="Calibri" panose="020F0502020204030204" pitchFamily="34" charset="0"/>
                <a:cs typeface="Calibri" panose="020F0502020204030204" pitchFamily="34" charset="0"/>
              </a:rPr>
              <a:t>, S., </a:t>
            </a:r>
            <a:r>
              <a:rPr lang="en-US" sz="2400" dirty="0" err="1">
                <a:latin typeface="Calibri" panose="020F0502020204030204" pitchFamily="34" charset="0"/>
                <a:ea typeface="Calibri" panose="020F0502020204030204" pitchFamily="34" charset="0"/>
                <a:cs typeface="Calibri" panose="020F0502020204030204" pitchFamily="34" charset="0"/>
              </a:rPr>
              <a:t>Girshick</a:t>
            </a:r>
            <a:r>
              <a:rPr lang="en-US" sz="2400" dirty="0">
                <a:latin typeface="Calibri" panose="020F0502020204030204" pitchFamily="34" charset="0"/>
                <a:ea typeface="Calibri" panose="020F0502020204030204" pitchFamily="34" charset="0"/>
                <a:cs typeface="Calibri" panose="020F0502020204030204" pitchFamily="34" charset="0"/>
              </a:rPr>
              <a:t>, R., &amp; Farhadi, A. (2016). You only look once: Unified, real-time object detection. In </a:t>
            </a:r>
            <a:r>
              <a:rPr lang="en-US" sz="2400" i="1" dirty="0">
                <a:latin typeface="Calibri" panose="020F0502020204030204" pitchFamily="34" charset="0"/>
                <a:ea typeface="Calibri" panose="020F0502020204030204" pitchFamily="34" charset="0"/>
                <a:cs typeface="Calibri" panose="020F0502020204030204" pitchFamily="34" charset="0"/>
              </a:rPr>
              <a:t>Proceedings of the IEEE Conference on Computer Vision and Pattern Recognition</a:t>
            </a:r>
            <a:r>
              <a:rPr lang="en-US" sz="2400" dirty="0">
                <a:latin typeface="Calibri" panose="020F0502020204030204" pitchFamily="34" charset="0"/>
                <a:ea typeface="Calibri" panose="020F0502020204030204" pitchFamily="34" charset="0"/>
                <a:cs typeface="Calibri" panose="020F0502020204030204" pitchFamily="34" charset="0"/>
              </a:rPr>
              <a:t> (pp. 779–788). </a:t>
            </a:r>
            <a:r>
              <a:rPr lang="en-US" sz="2400" u="sng" dirty="0">
                <a:solidFill>
                  <a:srgbClr val="0000FF"/>
                </a:solidFill>
                <a:latin typeface="Calibri" panose="020F0502020204030204" pitchFamily="34" charset="0"/>
                <a:ea typeface="Calibri" panose="020F0502020204030204" pitchFamily="34" charset="0"/>
                <a:cs typeface="Calibri" panose="020F0502020204030204" pitchFamily="34" charset="0"/>
                <a:hlinkClick r:id="rId15"/>
              </a:rPr>
              <a:t>https://doi.org/10.1109/CVPR.2016.91</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457200" marR="0" indent="-457200">
              <a:spcAft>
                <a:spcPts val="800"/>
              </a:spcAft>
              <a:buNone/>
            </a:pPr>
            <a:r>
              <a:rPr lang="en-US" sz="2400" dirty="0">
                <a:latin typeface="Calibri" panose="020F0502020204030204" pitchFamily="34" charset="0"/>
                <a:ea typeface="Calibri" panose="020F0502020204030204" pitchFamily="34" charset="0"/>
                <a:cs typeface="Calibri" panose="020F0502020204030204" pitchFamily="34" charset="0"/>
              </a:rPr>
              <a:t>Singh, R., &amp; Verma, A. (2024). Autonomous UAV navigation using deep learning-based computer vision. </a:t>
            </a:r>
            <a:r>
              <a:rPr lang="en-US" sz="2400" i="1" dirty="0">
                <a:latin typeface="Calibri" panose="020F0502020204030204" pitchFamily="34" charset="0"/>
                <a:ea typeface="Calibri" panose="020F0502020204030204" pitchFamily="34" charset="0"/>
                <a:cs typeface="Calibri" panose="020F0502020204030204" pitchFamily="34" charset="0"/>
              </a:rPr>
              <a:t>Journal of Intelligent &amp; Robotic Systems</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u="sng" dirty="0">
                <a:solidFill>
                  <a:srgbClr val="0000FF"/>
                </a:solidFill>
                <a:latin typeface="Calibri" panose="020F0502020204030204" pitchFamily="34" charset="0"/>
                <a:ea typeface="Calibri" panose="020F0502020204030204" pitchFamily="34" charset="0"/>
                <a:cs typeface="Calibri" panose="020F0502020204030204" pitchFamily="34" charset="0"/>
                <a:hlinkClick r:id="rId16"/>
              </a:rPr>
              <a:t>https://www.sciencedirect.com/science/article/pii/S2590005624000274</a:t>
            </a:r>
            <a:endParaRPr lang="en-US" sz="2400" u="sng" dirty="0">
              <a:solidFill>
                <a:srgbClr val="0000FF"/>
              </a:solidFill>
              <a:latin typeface="Calibri" panose="020F0502020204030204" pitchFamily="34" charset="0"/>
              <a:ea typeface="Calibri" panose="020F0502020204030204" pitchFamily="34" charset="0"/>
              <a:cs typeface="Calibri" panose="020F0502020204030204" pitchFamily="34" charset="0"/>
            </a:endParaRPr>
          </a:p>
          <a:p>
            <a:pPr marL="457200" indent="-457200">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UAV Coach. (2024). </a:t>
            </a:r>
            <a:r>
              <a:rPr lang="en-US" sz="2400" i="1" dirty="0">
                <a:latin typeface="Calibri" panose="020F0502020204030204" pitchFamily="34" charset="0"/>
                <a:ea typeface="Calibri" panose="020F0502020204030204" pitchFamily="34" charset="0"/>
                <a:cs typeface="Calibri" panose="020F0502020204030204" pitchFamily="34" charset="0"/>
              </a:rPr>
              <a:t>Drone mapping: An in-depth guide</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u="sng" dirty="0">
                <a:latin typeface="Calibri" panose="020F0502020204030204" pitchFamily="34" charset="0"/>
                <a:ea typeface="Calibri" panose="020F0502020204030204" pitchFamily="34" charset="0"/>
                <a:cs typeface="Calibri" panose="020F0502020204030204" pitchFamily="34" charset="0"/>
                <a:hlinkClick r:id="rId17"/>
              </a:rPr>
              <a:t>https://uavcoach.com/drone-mapping</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3ACA34C9-9D4F-A360-6569-35AA6F64BE94}"/>
              </a:ext>
            </a:extLst>
          </p:cNvPr>
          <p:cNvPicPr>
            <a:picLocks noChangeAspect="1"/>
          </p:cNvPicPr>
          <p:nvPr/>
        </p:nvPicPr>
        <p:blipFill>
          <a:blip r:embed="rId18"/>
          <a:stretch>
            <a:fillRect/>
          </a:stretch>
        </p:blipFill>
        <p:spPr>
          <a:xfrm>
            <a:off x="25547818" y="27216508"/>
            <a:ext cx="6526521" cy="4377147"/>
          </a:xfrm>
          <a:prstGeom prst="rect">
            <a:avLst/>
          </a:prstGeom>
        </p:spPr>
      </p:pic>
      <p:sp>
        <p:nvSpPr>
          <p:cNvPr id="1039" name="AutoShape 32">
            <a:extLst>
              <a:ext uri="{FF2B5EF4-FFF2-40B4-BE49-F238E27FC236}">
                <a16:creationId xmlns:a16="http://schemas.microsoft.com/office/drawing/2014/main" id="{EA7232C6-7370-62BB-93FB-29B0074A70D8}"/>
              </a:ext>
            </a:extLst>
          </p:cNvPr>
          <p:cNvSpPr>
            <a:spLocks noChangeArrowheads="1"/>
          </p:cNvSpPr>
          <p:nvPr/>
        </p:nvSpPr>
        <p:spPr bwMode="auto">
          <a:xfrm>
            <a:off x="11631428" y="27581179"/>
            <a:ext cx="9750939" cy="4619591"/>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marL="0" marR="0" lvl="0" indent="0" algn="ctr" defTabSz="2193857"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a:p>
            <a:pPr marL="0" marR="0" lvl="0" indent="0" algn="ctr" defTabSz="2193857" rtl="0" eaLnBrk="1" fontAlgn="base" latinLnBrk="0" hangingPunct="1">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Map Creation</a:t>
            </a:r>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The program was then used and tested on an AirSim drone with these results. </a:t>
            </a: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Figure 8 (right): Map made by </a:t>
            </a:r>
          </a:p>
          <a:p>
            <a:r>
              <a:rPr lang="en-US" sz="2400" dirty="0">
                <a:latin typeface="Calibri" panose="020F0502020204030204" pitchFamily="34" charset="0"/>
                <a:ea typeface="Calibri" panose="020F0502020204030204" pitchFamily="34" charset="0"/>
                <a:cs typeface="Calibri" panose="020F0502020204030204" pitchFamily="34" charset="0"/>
              </a:rPr>
              <a:t>Drone visualized as the path</a:t>
            </a:r>
          </a:p>
          <a:p>
            <a:r>
              <a:rPr lang="en-US" sz="2400" dirty="0">
                <a:latin typeface="Calibri" panose="020F0502020204030204" pitchFamily="34" charset="0"/>
                <a:ea typeface="Calibri" panose="020F0502020204030204" pitchFamily="34" charset="0"/>
                <a:cs typeface="Calibri" panose="020F0502020204030204" pitchFamily="34" charset="0"/>
              </a:rPr>
              <a:t>of the drone versus ground</a:t>
            </a:r>
          </a:p>
          <a:p>
            <a:r>
              <a:rPr lang="en-US" sz="2400" dirty="0">
                <a:latin typeface="Calibri" panose="020F0502020204030204" pitchFamily="34" charset="0"/>
                <a:ea typeface="Calibri" panose="020F0502020204030204" pitchFamily="34" charset="0"/>
                <a:cs typeface="Calibri" panose="020F0502020204030204" pitchFamily="34" charset="0"/>
              </a:rPr>
              <a:t>truth (actual location of road)</a:t>
            </a:r>
          </a:p>
          <a:p>
            <a:r>
              <a:rPr lang="en-US" sz="2400" dirty="0">
                <a:latin typeface="Calibri" panose="020F0502020204030204" pitchFamily="34" charset="0"/>
                <a:ea typeface="Calibri" panose="020F0502020204030204" pitchFamily="34" charset="0"/>
                <a:cs typeface="Calibri" panose="020F0502020204030204" pitchFamily="34" charset="0"/>
              </a:rPr>
              <a:t>in AirSim environment</a:t>
            </a:r>
            <a:endParaRPr lang="en-US" sz="2600" dirty="0">
              <a:latin typeface="Calibri" panose="020F0502020204030204" pitchFamily="34" charset="0"/>
              <a:ea typeface="Calibri" panose="020F0502020204030204" pitchFamily="34" charset="0"/>
              <a:cs typeface="Calibri" panose="020F0502020204030204" pitchFamily="34" charset="0"/>
            </a:endParaRPr>
          </a:p>
        </p:txBody>
      </p:sp>
      <p:sp>
        <p:nvSpPr>
          <p:cNvPr id="1044" name="AutoShape 40">
            <a:extLst>
              <a:ext uri="{FF2B5EF4-FFF2-40B4-BE49-F238E27FC236}">
                <a16:creationId xmlns:a16="http://schemas.microsoft.com/office/drawing/2014/main" id="{DF66B07C-09F2-D0B9-556D-90DA73B2C9B9}"/>
              </a:ext>
            </a:extLst>
          </p:cNvPr>
          <p:cNvSpPr>
            <a:spLocks noChangeArrowheads="1"/>
          </p:cNvSpPr>
          <p:nvPr/>
        </p:nvSpPr>
        <p:spPr bwMode="auto">
          <a:xfrm>
            <a:off x="33200862" y="3274976"/>
            <a:ext cx="10246588" cy="6448144"/>
          </a:xfrm>
          <a:prstGeom prst="roundRect">
            <a:avLst>
              <a:gd name="adj" fmla="val 8395"/>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lvl="0" algn="ctr">
              <a:defRPr/>
            </a:pPr>
            <a:endParaRPr lang="en-US" sz="800" b="1" dirty="0">
              <a:solidFill>
                <a:prstClr val="black"/>
              </a:solidFill>
            </a:endParaRPr>
          </a:p>
          <a:p>
            <a:pPr lvl="0" algn="ctr">
              <a:defRPr/>
            </a:pPr>
            <a:r>
              <a:rPr lang="en-US" sz="3600" b="1" dirty="0">
                <a:solidFill>
                  <a:prstClr val="black"/>
                </a:solidFill>
                <a:latin typeface="Calibri" panose="020F0502020204030204" pitchFamily="34" charset="0"/>
                <a:ea typeface="Calibri" panose="020F0502020204030204" pitchFamily="34" charset="0"/>
                <a:cs typeface="Calibri" panose="020F0502020204030204" pitchFamily="34" charset="0"/>
              </a:rPr>
              <a:t>Discussion</a:t>
            </a: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Figure 10 (Right) shows</a:t>
            </a:r>
          </a:p>
          <a:p>
            <a:r>
              <a:rPr lang="en-US" sz="2600" dirty="0">
                <a:latin typeface="Calibri" panose="020F0502020204030204" pitchFamily="34" charset="0"/>
                <a:ea typeface="Calibri" panose="020F0502020204030204" pitchFamily="34" charset="0"/>
                <a:cs typeface="Calibri" panose="020F0502020204030204" pitchFamily="34" charset="0"/>
              </a:rPr>
              <a:t>the accuracy of the drone </a:t>
            </a:r>
          </a:p>
          <a:p>
            <a:r>
              <a:rPr lang="en-US" sz="2600" dirty="0">
                <a:latin typeface="Calibri" panose="020F0502020204030204" pitchFamily="34" charset="0"/>
                <a:ea typeface="Calibri" panose="020F0502020204030204" pitchFamily="34" charset="0"/>
                <a:cs typeface="Calibri" panose="020F0502020204030204" pitchFamily="34" charset="0"/>
              </a:rPr>
              <a:t>was measured by finding </a:t>
            </a:r>
          </a:p>
          <a:p>
            <a:r>
              <a:rPr lang="en-US" sz="2600" dirty="0">
                <a:latin typeface="Calibri" panose="020F0502020204030204" pitchFamily="34" charset="0"/>
                <a:ea typeface="Calibri" panose="020F0502020204030204" pitchFamily="34" charset="0"/>
                <a:cs typeface="Calibri" panose="020F0502020204030204" pitchFamily="34" charset="0"/>
              </a:rPr>
              <a:t>the predicted value for the</a:t>
            </a:r>
          </a:p>
          <a:p>
            <a:r>
              <a:rPr lang="en-US" sz="2600" dirty="0">
                <a:latin typeface="Calibri" panose="020F0502020204030204" pitchFamily="34" charset="0"/>
                <a:ea typeface="Calibri" panose="020F0502020204030204" pitchFamily="34" charset="0"/>
                <a:cs typeface="Calibri" panose="020F0502020204030204" pitchFamily="34" charset="0"/>
              </a:rPr>
              <a:t>center of the road and </a:t>
            </a:r>
          </a:p>
          <a:p>
            <a:r>
              <a:rPr lang="en-US" sz="2600" dirty="0">
                <a:latin typeface="Calibri" panose="020F0502020204030204" pitchFamily="34" charset="0"/>
                <a:ea typeface="Calibri" panose="020F0502020204030204" pitchFamily="34" charset="0"/>
                <a:cs typeface="Calibri" panose="020F0502020204030204" pitchFamily="34" charset="0"/>
              </a:rPr>
              <a:t>subtracting it from the </a:t>
            </a:r>
          </a:p>
          <a:p>
            <a:r>
              <a:rPr lang="en-US" sz="2600" dirty="0">
                <a:latin typeface="Calibri" panose="020F0502020204030204" pitchFamily="34" charset="0"/>
                <a:ea typeface="Calibri" panose="020F0502020204030204" pitchFamily="34" charset="0"/>
                <a:cs typeface="Calibri" panose="020F0502020204030204" pitchFamily="34" charset="0"/>
              </a:rPr>
              <a:t>actual value for the center </a:t>
            </a:r>
          </a:p>
          <a:p>
            <a:r>
              <a:rPr lang="en-US" sz="2600" dirty="0">
                <a:latin typeface="Calibri" panose="020F0502020204030204" pitchFamily="34" charset="0"/>
                <a:ea typeface="Calibri" panose="020F0502020204030204" pitchFamily="34" charset="0"/>
                <a:cs typeface="Calibri" panose="020F0502020204030204" pitchFamily="34" charset="0"/>
              </a:rPr>
              <a:t>of the road. The drone </a:t>
            </a:r>
          </a:p>
          <a:p>
            <a:r>
              <a:rPr lang="en-US" sz="2600" dirty="0">
                <a:latin typeface="Calibri" panose="020F0502020204030204" pitchFamily="34" charset="0"/>
                <a:ea typeface="Calibri" panose="020F0502020204030204" pitchFamily="34" charset="0"/>
                <a:cs typeface="Calibri" panose="020F0502020204030204" pitchFamily="34" charset="0"/>
              </a:rPr>
              <a:t>maintained an overall accuracy of &gt;70% at all times.</a:t>
            </a: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latin typeface="Calibri" panose="020F0502020204030204" pitchFamily="34" charset="0"/>
                <a:ea typeface="Calibri" panose="020F0502020204030204" pitchFamily="34" charset="0"/>
                <a:cs typeface="Calibri" panose="020F0502020204030204" pitchFamily="34" charset="0"/>
              </a:rPr>
              <a:t>Each frame took on average 500ms to process with the maximum being 2523ms. In multiple tests in simulation, the drone never left the boundaries of the road.</a:t>
            </a:r>
          </a:p>
          <a:p>
            <a:endParaRPr lang="en-US" sz="2600" dirty="0">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1043" name="Picture 1042">
            <a:extLst>
              <a:ext uri="{FF2B5EF4-FFF2-40B4-BE49-F238E27FC236}">
                <a16:creationId xmlns:a16="http://schemas.microsoft.com/office/drawing/2014/main" id="{184F85FC-3B7F-CBED-FBD8-6637BC1DDA7A}"/>
              </a:ext>
            </a:extLst>
          </p:cNvPr>
          <p:cNvPicPr>
            <a:picLocks noChangeAspect="1"/>
          </p:cNvPicPr>
          <p:nvPr/>
        </p:nvPicPr>
        <p:blipFill>
          <a:blip r:embed="rId19"/>
          <a:srcRect b="4537"/>
          <a:stretch>
            <a:fillRect/>
          </a:stretch>
        </p:blipFill>
        <p:spPr>
          <a:xfrm>
            <a:off x="37498169" y="4491794"/>
            <a:ext cx="5690157" cy="2782674"/>
          </a:xfrm>
          <a:prstGeom prst="rect">
            <a:avLst/>
          </a:prstGeom>
        </p:spPr>
      </p:pic>
      <p:pic>
        <p:nvPicPr>
          <p:cNvPr id="1046" name="Picture 1045">
            <a:extLst>
              <a:ext uri="{FF2B5EF4-FFF2-40B4-BE49-F238E27FC236}">
                <a16:creationId xmlns:a16="http://schemas.microsoft.com/office/drawing/2014/main" id="{C9F8A3F3-6A6D-1443-4687-AEBF760A996A}"/>
              </a:ext>
            </a:extLst>
          </p:cNvPr>
          <p:cNvPicPr>
            <a:picLocks noChangeAspect="1"/>
          </p:cNvPicPr>
          <p:nvPr/>
        </p:nvPicPr>
        <p:blipFill>
          <a:blip r:embed="rId20"/>
          <a:srcRect l="12350" t="393" r="41554" b="-1"/>
          <a:stretch>
            <a:fillRect/>
          </a:stretch>
        </p:blipFill>
        <p:spPr>
          <a:xfrm rot="16200000" flipV="1">
            <a:off x="16839831" y="28250322"/>
            <a:ext cx="3245954" cy="4400686"/>
          </a:xfrm>
          <a:prstGeom prst="rect">
            <a:avLst/>
          </a:prstGeom>
        </p:spPr>
      </p:pic>
      <p:pic>
        <p:nvPicPr>
          <p:cNvPr id="1050" name="Picture 6">
            <a:extLst>
              <a:ext uri="{FF2B5EF4-FFF2-40B4-BE49-F238E27FC236}">
                <a16:creationId xmlns:a16="http://schemas.microsoft.com/office/drawing/2014/main" id="{96045E46-900F-6698-9E38-EC9EB16C08F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977819" y="19983925"/>
            <a:ext cx="4860298" cy="4434503"/>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1051">
            <a:extLst>
              <a:ext uri="{FF2B5EF4-FFF2-40B4-BE49-F238E27FC236}">
                <a16:creationId xmlns:a16="http://schemas.microsoft.com/office/drawing/2014/main" id="{6C3D9A7D-58B6-14F5-44F7-AEDEFAFE2357}"/>
              </a:ext>
            </a:extLst>
          </p:cNvPr>
          <p:cNvPicPr>
            <a:picLocks noChangeAspect="1"/>
          </p:cNvPicPr>
          <p:nvPr/>
        </p:nvPicPr>
        <p:blipFill>
          <a:blip r:embed="rId22"/>
          <a:stretch>
            <a:fillRect/>
          </a:stretch>
        </p:blipFill>
        <p:spPr>
          <a:xfrm>
            <a:off x="22863937" y="11953375"/>
            <a:ext cx="9210402" cy="4837323"/>
          </a:xfrm>
          <a:prstGeom prst="rect">
            <a:avLst/>
          </a:prstGeom>
        </p:spPr>
      </p:pic>
      <p:sp>
        <p:nvSpPr>
          <p:cNvPr id="1053" name="Rectangle: Top Corners Rounded 1052">
            <a:extLst>
              <a:ext uri="{FF2B5EF4-FFF2-40B4-BE49-F238E27FC236}">
                <a16:creationId xmlns:a16="http://schemas.microsoft.com/office/drawing/2014/main" id="{1847EB87-65F5-F003-E6A8-36149BC34679}"/>
              </a:ext>
            </a:extLst>
          </p:cNvPr>
          <p:cNvSpPr/>
          <p:nvPr/>
        </p:nvSpPr>
        <p:spPr>
          <a:xfrm>
            <a:off x="434376" y="3326706"/>
            <a:ext cx="10995626"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GRAPHICAL ABSTRACT</a:t>
            </a:r>
          </a:p>
        </p:txBody>
      </p:sp>
      <p:sp>
        <p:nvSpPr>
          <p:cNvPr id="1054" name="Rectangle: Top Corners Rounded 1053">
            <a:extLst>
              <a:ext uri="{FF2B5EF4-FFF2-40B4-BE49-F238E27FC236}">
                <a16:creationId xmlns:a16="http://schemas.microsoft.com/office/drawing/2014/main" id="{1FF2E02E-0561-38B6-FB1A-F1B366B9528C}"/>
              </a:ext>
            </a:extLst>
          </p:cNvPr>
          <p:cNvSpPr/>
          <p:nvPr/>
        </p:nvSpPr>
        <p:spPr>
          <a:xfrm>
            <a:off x="434376" y="10564154"/>
            <a:ext cx="10995626"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INTRODUCTION</a:t>
            </a:r>
          </a:p>
        </p:txBody>
      </p:sp>
      <p:sp>
        <p:nvSpPr>
          <p:cNvPr id="1055" name="Rectangle: Top Corners Rounded 1054">
            <a:extLst>
              <a:ext uri="{FF2B5EF4-FFF2-40B4-BE49-F238E27FC236}">
                <a16:creationId xmlns:a16="http://schemas.microsoft.com/office/drawing/2014/main" id="{B5269788-5B78-2882-FB8B-962E9FDB6538}"/>
              </a:ext>
            </a:extLst>
          </p:cNvPr>
          <p:cNvSpPr/>
          <p:nvPr/>
        </p:nvSpPr>
        <p:spPr>
          <a:xfrm>
            <a:off x="443527" y="19342867"/>
            <a:ext cx="10995626"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RESEARCH OBJECTIVES</a:t>
            </a:r>
          </a:p>
        </p:txBody>
      </p:sp>
      <p:sp>
        <p:nvSpPr>
          <p:cNvPr id="1056" name="Rectangle: Top Corners Rounded 1055">
            <a:extLst>
              <a:ext uri="{FF2B5EF4-FFF2-40B4-BE49-F238E27FC236}">
                <a16:creationId xmlns:a16="http://schemas.microsoft.com/office/drawing/2014/main" id="{B9E8786B-4C2B-766B-6C14-80762814CC29}"/>
              </a:ext>
            </a:extLst>
          </p:cNvPr>
          <p:cNvSpPr/>
          <p:nvPr/>
        </p:nvSpPr>
        <p:spPr>
          <a:xfrm>
            <a:off x="443527" y="28103296"/>
            <a:ext cx="10995626"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CAMERA VISION</a:t>
            </a:r>
          </a:p>
        </p:txBody>
      </p:sp>
      <p:sp>
        <p:nvSpPr>
          <p:cNvPr id="1057" name="Rectangle: Top Corners Rounded 1056">
            <a:extLst>
              <a:ext uri="{FF2B5EF4-FFF2-40B4-BE49-F238E27FC236}">
                <a16:creationId xmlns:a16="http://schemas.microsoft.com/office/drawing/2014/main" id="{18996C88-2149-2DAB-5320-13817F093583}"/>
              </a:ext>
            </a:extLst>
          </p:cNvPr>
          <p:cNvSpPr/>
          <p:nvPr/>
        </p:nvSpPr>
        <p:spPr>
          <a:xfrm>
            <a:off x="11599148" y="3310335"/>
            <a:ext cx="9848797"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ENGINEERING NEED</a:t>
            </a:r>
          </a:p>
        </p:txBody>
      </p:sp>
      <p:sp>
        <p:nvSpPr>
          <p:cNvPr id="1058" name="Rectangle: Top Corners Rounded 1057">
            <a:extLst>
              <a:ext uri="{FF2B5EF4-FFF2-40B4-BE49-F238E27FC236}">
                <a16:creationId xmlns:a16="http://schemas.microsoft.com/office/drawing/2014/main" id="{8451A6FD-DFB4-47DF-BEA6-92CD155C181E}"/>
              </a:ext>
            </a:extLst>
          </p:cNvPr>
          <p:cNvSpPr/>
          <p:nvPr/>
        </p:nvSpPr>
        <p:spPr>
          <a:xfrm>
            <a:off x="21733738" y="3300339"/>
            <a:ext cx="11181331"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ENGINEERING OBJECTIVE</a:t>
            </a:r>
          </a:p>
        </p:txBody>
      </p:sp>
      <p:sp>
        <p:nvSpPr>
          <p:cNvPr id="1059" name="Rectangle: Top Corners Rounded 1058">
            <a:extLst>
              <a:ext uri="{FF2B5EF4-FFF2-40B4-BE49-F238E27FC236}">
                <a16:creationId xmlns:a16="http://schemas.microsoft.com/office/drawing/2014/main" id="{6E6CF1CE-DCA2-31A3-8506-63E9946D66C2}"/>
              </a:ext>
            </a:extLst>
          </p:cNvPr>
          <p:cNvSpPr/>
          <p:nvPr/>
        </p:nvSpPr>
        <p:spPr>
          <a:xfrm>
            <a:off x="11631428" y="5971497"/>
            <a:ext cx="21283641"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METHODOLOGY &amp; RESULTS</a:t>
            </a:r>
          </a:p>
        </p:txBody>
      </p:sp>
      <p:sp>
        <p:nvSpPr>
          <p:cNvPr id="1066" name="Rectangle: Top Corners Rounded 1065">
            <a:extLst>
              <a:ext uri="{FF2B5EF4-FFF2-40B4-BE49-F238E27FC236}">
                <a16:creationId xmlns:a16="http://schemas.microsoft.com/office/drawing/2014/main" id="{E932EEE0-7FDB-E4AD-B3FF-0FC17B0324B7}"/>
              </a:ext>
            </a:extLst>
          </p:cNvPr>
          <p:cNvSpPr/>
          <p:nvPr/>
        </p:nvSpPr>
        <p:spPr>
          <a:xfrm>
            <a:off x="33200863" y="3224217"/>
            <a:ext cx="10246588"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DISCUSSION</a:t>
            </a:r>
          </a:p>
        </p:txBody>
      </p:sp>
      <p:sp>
        <p:nvSpPr>
          <p:cNvPr id="1067" name="Rectangle: Top Corners Rounded 1066">
            <a:extLst>
              <a:ext uri="{FF2B5EF4-FFF2-40B4-BE49-F238E27FC236}">
                <a16:creationId xmlns:a16="http://schemas.microsoft.com/office/drawing/2014/main" id="{310B8FD0-18B1-4345-BBB7-A4429232078A}"/>
              </a:ext>
            </a:extLst>
          </p:cNvPr>
          <p:cNvSpPr/>
          <p:nvPr/>
        </p:nvSpPr>
        <p:spPr>
          <a:xfrm>
            <a:off x="33229949" y="9812514"/>
            <a:ext cx="10246588"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1068" name="Rectangle: Top Corners Rounded 1067">
            <a:extLst>
              <a:ext uri="{FF2B5EF4-FFF2-40B4-BE49-F238E27FC236}">
                <a16:creationId xmlns:a16="http://schemas.microsoft.com/office/drawing/2014/main" id="{F8BAFCB8-BF80-C80D-3281-36EDC555D695}"/>
              </a:ext>
            </a:extLst>
          </p:cNvPr>
          <p:cNvSpPr/>
          <p:nvPr/>
        </p:nvSpPr>
        <p:spPr>
          <a:xfrm>
            <a:off x="33216102" y="17518579"/>
            <a:ext cx="10246588"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FUTURE STEPS</a:t>
            </a:r>
          </a:p>
        </p:txBody>
      </p:sp>
      <p:sp>
        <p:nvSpPr>
          <p:cNvPr id="1069" name="Rectangle: Top Corners Rounded 1068">
            <a:extLst>
              <a:ext uri="{FF2B5EF4-FFF2-40B4-BE49-F238E27FC236}">
                <a16:creationId xmlns:a16="http://schemas.microsoft.com/office/drawing/2014/main" id="{61087F22-D525-249A-36E5-EE1EAB7A9354}"/>
              </a:ext>
            </a:extLst>
          </p:cNvPr>
          <p:cNvSpPr/>
          <p:nvPr/>
        </p:nvSpPr>
        <p:spPr>
          <a:xfrm>
            <a:off x="33200861" y="25627307"/>
            <a:ext cx="10275675" cy="1042699"/>
          </a:xfrm>
          <a:prstGeom prst="round2SameRect">
            <a:avLst>
              <a:gd name="adj1" fmla="val 50000"/>
              <a:gd name="adj2" fmla="val 0"/>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REFERENCES</a:t>
            </a:r>
          </a:p>
        </p:txBody>
      </p:sp>
      <p:pic>
        <p:nvPicPr>
          <p:cNvPr id="1072" name="Picture 6">
            <a:extLst>
              <a:ext uri="{FF2B5EF4-FFF2-40B4-BE49-F238E27FC236}">
                <a16:creationId xmlns:a16="http://schemas.microsoft.com/office/drawing/2014/main" id="{5C46F41E-B9F6-5578-15DA-82EDEF5A2EF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736805" y="22259493"/>
            <a:ext cx="4860298" cy="4434503"/>
          </a:xfrm>
          <a:prstGeom prst="rect">
            <a:avLst/>
          </a:prstGeom>
          <a:noFill/>
          <a:extLst>
            <a:ext uri="{909E8E84-426E-40DD-AFC4-6F175D3DCCD1}">
              <a14:hiddenFill xmlns:a14="http://schemas.microsoft.com/office/drawing/2010/main">
                <a:solidFill>
                  <a:srgbClr val="FFFFFF"/>
                </a:solidFill>
              </a14:hiddenFill>
            </a:ext>
          </a:extLst>
        </p:spPr>
      </p:pic>
      <p:pic>
        <p:nvPicPr>
          <p:cNvPr id="1073" name="Picture 6">
            <a:extLst>
              <a:ext uri="{FF2B5EF4-FFF2-40B4-BE49-F238E27FC236}">
                <a16:creationId xmlns:a16="http://schemas.microsoft.com/office/drawing/2014/main" id="{8F826334-6F06-F633-9500-192406E5F25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555669" y="24527200"/>
            <a:ext cx="4860298" cy="4434503"/>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6">
            <a:extLst>
              <a:ext uri="{FF2B5EF4-FFF2-40B4-BE49-F238E27FC236}">
                <a16:creationId xmlns:a16="http://schemas.microsoft.com/office/drawing/2014/main" id="{4D27541A-98FA-F43B-E66F-F3E296993DC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709002" y="22294447"/>
            <a:ext cx="4860298" cy="44345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C6E347F-8D16-BFE7-A65F-CA4AD00DB2FE}"/>
              </a:ext>
            </a:extLst>
          </p:cNvPr>
          <p:cNvPicPr>
            <a:picLocks noChangeAspect="1"/>
          </p:cNvPicPr>
          <p:nvPr/>
        </p:nvPicPr>
        <p:blipFill>
          <a:blip r:embed="rId8"/>
          <a:srcRect r="12118" b="73999"/>
          <a:stretch>
            <a:fillRect/>
          </a:stretch>
        </p:blipFill>
        <p:spPr>
          <a:xfrm>
            <a:off x="1595826" y="22632307"/>
            <a:ext cx="8606265" cy="1427485"/>
          </a:xfrm>
          <a:prstGeom prst="rect">
            <a:avLst/>
          </a:prstGeom>
        </p:spPr>
      </p:pic>
      <p:pic>
        <p:nvPicPr>
          <p:cNvPr id="1026" name="Picture 2">
            <a:extLst>
              <a:ext uri="{FF2B5EF4-FFF2-40B4-BE49-F238E27FC236}">
                <a16:creationId xmlns:a16="http://schemas.microsoft.com/office/drawing/2014/main" id="{F77DE4DC-160B-C2ED-9F45-E0E563529700}"/>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39041" y="86366"/>
            <a:ext cx="2577383" cy="260792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9B36F937-0E33-B314-4137-73A3A1F5817A}"/>
              </a:ext>
            </a:extLst>
          </p:cNvPr>
          <p:cNvPicPr>
            <a:picLocks noChangeAspect="1"/>
          </p:cNvPicPr>
          <p:nvPr/>
        </p:nvPicPr>
        <p:blipFill>
          <a:blip r:embed="rId24"/>
          <a:stretch>
            <a:fillRect/>
          </a:stretch>
        </p:blipFill>
        <p:spPr>
          <a:xfrm>
            <a:off x="23529342" y="18167047"/>
            <a:ext cx="6477887" cy="3808812"/>
          </a:xfrm>
          <a:prstGeom prst="rect">
            <a:avLst/>
          </a:prstGeom>
        </p:spPr>
      </p:pic>
      <p:sp>
        <p:nvSpPr>
          <p:cNvPr id="26" name="TextBox 25">
            <a:extLst>
              <a:ext uri="{FF2B5EF4-FFF2-40B4-BE49-F238E27FC236}">
                <a16:creationId xmlns:a16="http://schemas.microsoft.com/office/drawing/2014/main" id="{CB683AE6-95A2-5A10-9064-1E4891DFFCFB}"/>
              </a:ext>
            </a:extLst>
          </p:cNvPr>
          <p:cNvSpPr txBox="1"/>
          <p:nvPr/>
        </p:nvSpPr>
        <p:spPr>
          <a:xfrm>
            <a:off x="12163226" y="7549979"/>
            <a:ext cx="764953" cy="461665"/>
          </a:xfrm>
          <a:prstGeom prst="rect">
            <a:avLst/>
          </a:prstGeom>
          <a:noFill/>
        </p:spPr>
        <p:txBody>
          <a:bodyPr wrap="non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Fig 1</a:t>
            </a:r>
          </a:p>
        </p:txBody>
      </p:sp>
      <p:sp>
        <p:nvSpPr>
          <p:cNvPr id="38" name="TextBox 37">
            <a:extLst>
              <a:ext uri="{FF2B5EF4-FFF2-40B4-BE49-F238E27FC236}">
                <a16:creationId xmlns:a16="http://schemas.microsoft.com/office/drawing/2014/main" id="{C5B3E9B7-1674-08F1-E54D-1212BCBF4D46}"/>
              </a:ext>
            </a:extLst>
          </p:cNvPr>
          <p:cNvSpPr txBox="1"/>
          <p:nvPr/>
        </p:nvSpPr>
        <p:spPr>
          <a:xfrm>
            <a:off x="20305051" y="7543007"/>
            <a:ext cx="764953" cy="461665"/>
          </a:xfrm>
          <a:prstGeom prst="rect">
            <a:avLst/>
          </a:prstGeom>
          <a:noFill/>
        </p:spPr>
        <p:txBody>
          <a:bodyPr wrap="non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Fig 2</a:t>
            </a:r>
          </a:p>
        </p:txBody>
      </p:sp>
      <p:sp>
        <p:nvSpPr>
          <p:cNvPr id="39" name="TextBox 38">
            <a:extLst>
              <a:ext uri="{FF2B5EF4-FFF2-40B4-BE49-F238E27FC236}">
                <a16:creationId xmlns:a16="http://schemas.microsoft.com/office/drawing/2014/main" id="{171D7805-21FD-4EB4-FA42-5459D4EB1393}"/>
              </a:ext>
            </a:extLst>
          </p:cNvPr>
          <p:cNvSpPr txBox="1"/>
          <p:nvPr/>
        </p:nvSpPr>
        <p:spPr>
          <a:xfrm>
            <a:off x="22341539" y="7344117"/>
            <a:ext cx="764953" cy="461665"/>
          </a:xfrm>
          <a:prstGeom prst="rect">
            <a:avLst/>
          </a:prstGeom>
          <a:noFill/>
        </p:spPr>
        <p:txBody>
          <a:bodyPr wrap="non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Fig 3</a:t>
            </a:r>
          </a:p>
        </p:txBody>
      </p:sp>
      <p:sp>
        <p:nvSpPr>
          <p:cNvPr id="40" name="TextBox 39">
            <a:extLst>
              <a:ext uri="{FF2B5EF4-FFF2-40B4-BE49-F238E27FC236}">
                <a16:creationId xmlns:a16="http://schemas.microsoft.com/office/drawing/2014/main" id="{6D9D04A9-FB4A-330D-F6F7-E72EA82EC0CA}"/>
              </a:ext>
            </a:extLst>
          </p:cNvPr>
          <p:cNvSpPr txBox="1"/>
          <p:nvPr/>
        </p:nvSpPr>
        <p:spPr>
          <a:xfrm>
            <a:off x="31540052" y="7384052"/>
            <a:ext cx="764953" cy="461665"/>
          </a:xfrm>
          <a:prstGeom prst="rect">
            <a:avLst/>
          </a:prstGeom>
          <a:noFill/>
        </p:spPr>
        <p:txBody>
          <a:bodyPr wrap="non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Fig 4</a:t>
            </a:r>
          </a:p>
        </p:txBody>
      </p:sp>
      <p:sp>
        <p:nvSpPr>
          <p:cNvPr id="41" name="TextBox 40">
            <a:extLst>
              <a:ext uri="{FF2B5EF4-FFF2-40B4-BE49-F238E27FC236}">
                <a16:creationId xmlns:a16="http://schemas.microsoft.com/office/drawing/2014/main" id="{48A3BBD6-7F7F-F4CF-E6A7-E01CF02CD85F}"/>
              </a:ext>
            </a:extLst>
          </p:cNvPr>
          <p:cNvSpPr txBox="1"/>
          <p:nvPr/>
        </p:nvSpPr>
        <p:spPr>
          <a:xfrm>
            <a:off x="31309386" y="16091395"/>
            <a:ext cx="764953" cy="461665"/>
          </a:xfrm>
          <a:prstGeom prst="rect">
            <a:avLst/>
          </a:prstGeom>
          <a:noFill/>
        </p:spPr>
        <p:txBody>
          <a:bodyPr wrap="non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Fig 5</a:t>
            </a:r>
          </a:p>
        </p:txBody>
      </p:sp>
      <p:pic>
        <p:nvPicPr>
          <p:cNvPr id="18" name="Picture 17">
            <a:extLst>
              <a:ext uri="{FF2B5EF4-FFF2-40B4-BE49-F238E27FC236}">
                <a16:creationId xmlns:a16="http://schemas.microsoft.com/office/drawing/2014/main" id="{A015B1A2-99CF-D023-0819-7B34B595B22A}"/>
              </a:ext>
            </a:extLst>
          </p:cNvPr>
          <p:cNvPicPr>
            <a:picLocks noChangeAspect="1"/>
          </p:cNvPicPr>
          <p:nvPr/>
        </p:nvPicPr>
        <p:blipFill>
          <a:blip r:embed="rId25"/>
          <a:stretch>
            <a:fillRect/>
          </a:stretch>
        </p:blipFill>
        <p:spPr>
          <a:xfrm>
            <a:off x="480827" y="76619"/>
            <a:ext cx="2577383" cy="2591702"/>
          </a:xfrm>
          <a:prstGeom prst="rect">
            <a:avLst/>
          </a:prstGeom>
        </p:spPr>
      </p:pic>
    </p:spTree>
    <p:extLst>
      <p:ext uri="{BB962C8B-B14F-4D97-AF65-F5344CB8AC3E}">
        <p14:creationId xmlns:p14="http://schemas.microsoft.com/office/powerpoint/2010/main" val="2702103839"/>
      </p:ext>
    </p:extLst>
  </p:cSld>
  <p:clrMapOvr>
    <a:masterClrMapping/>
  </p:clrMapOvr>
</p:sld>
</file>

<file path=ppt/theme/theme1.xml><?xml version="1.0" encoding="utf-8"?>
<a:theme xmlns:a="http://schemas.openxmlformats.org/drawingml/2006/main" name="wpi_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5519</TotalTime>
  <Words>1445</Words>
  <Application>Microsoft Office PowerPoint</Application>
  <PresentationFormat>Custom</PresentationFormat>
  <Paragraphs>172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vt:lpstr>
      <vt:lpstr>Gadugi</vt:lpstr>
      <vt:lpstr>wpi_ppt</vt:lpstr>
      <vt:lpstr>PowerPoint Presentation</vt:lpstr>
    </vt:vector>
  </TitlesOfParts>
  <Company>Worcester Polytechnic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dc:title>
  <dc:creator>WPI;ATC</dc:creator>
  <cp:lastModifiedBy>Prabhudesai, Arnav</cp:lastModifiedBy>
  <cp:revision>54</cp:revision>
  <dcterms:created xsi:type="dcterms:W3CDTF">2009-11-05T19:41:53Z</dcterms:created>
  <dcterms:modified xsi:type="dcterms:W3CDTF">2026-04-08T15:02:14Z</dcterms:modified>
</cp:coreProperties>
</file>