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3"/>
  </p:notesMasterIdLst>
  <p:handoutMasterIdLst>
    <p:handoutMasterId r:id="rId4"/>
  </p:handoutMasterIdLst>
  <p:sldIdLst>
    <p:sldId id="256" r:id="rId2"/>
  </p:sldIdLst>
  <p:sldSz cx="32918400" cy="21945600"/>
  <p:notesSz cx="6858000" cy="9144000"/>
  <p:defaultTextStyle>
    <a:defPPr>
      <a:defRPr lang="en-US"/>
    </a:defPPr>
    <a:lvl1pPr algn="l" defTabSz="1567229" rtl="0" fontAlgn="base">
      <a:spcBef>
        <a:spcPct val="0"/>
      </a:spcBef>
      <a:spcAft>
        <a:spcPct val="0"/>
      </a:spcAft>
      <a:defRPr kern="1200">
        <a:solidFill>
          <a:schemeClr val="tx1"/>
        </a:solidFill>
        <a:latin typeface="Arial" charset="0"/>
        <a:ea typeface="ＭＳ Ｐゴシック" pitchFamily="34" charset="-128"/>
        <a:cs typeface="+mn-cs"/>
      </a:defRPr>
    </a:lvl1pPr>
    <a:lvl2pPr marL="1567229" algn="l" defTabSz="1567229" rtl="0" fontAlgn="base">
      <a:spcBef>
        <a:spcPct val="0"/>
      </a:spcBef>
      <a:spcAft>
        <a:spcPct val="0"/>
      </a:spcAft>
      <a:defRPr kern="1200">
        <a:solidFill>
          <a:schemeClr val="tx1"/>
        </a:solidFill>
        <a:latin typeface="Arial" charset="0"/>
        <a:ea typeface="ＭＳ Ｐゴシック" pitchFamily="34" charset="-128"/>
        <a:cs typeface="+mn-cs"/>
      </a:defRPr>
    </a:lvl2pPr>
    <a:lvl3pPr marL="3134456" algn="l" defTabSz="1567229" rtl="0" fontAlgn="base">
      <a:spcBef>
        <a:spcPct val="0"/>
      </a:spcBef>
      <a:spcAft>
        <a:spcPct val="0"/>
      </a:spcAft>
      <a:defRPr kern="1200">
        <a:solidFill>
          <a:schemeClr val="tx1"/>
        </a:solidFill>
        <a:latin typeface="Arial" charset="0"/>
        <a:ea typeface="ＭＳ Ｐゴシック" pitchFamily="34" charset="-128"/>
        <a:cs typeface="+mn-cs"/>
      </a:defRPr>
    </a:lvl3pPr>
    <a:lvl4pPr marL="4701683" algn="l" defTabSz="1567229" rtl="0" fontAlgn="base">
      <a:spcBef>
        <a:spcPct val="0"/>
      </a:spcBef>
      <a:spcAft>
        <a:spcPct val="0"/>
      </a:spcAft>
      <a:defRPr kern="1200">
        <a:solidFill>
          <a:schemeClr val="tx1"/>
        </a:solidFill>
        <a:latin typeface="Arial" charset="0"/>
        <a:ea typeface="ＭＳ Ｐゴシック" pitchFamily="34" charset="-128"/>
        <a:cs typeface="+mn-cs"/>
      </a:defRPr>
    </a:lvl4pPr>
    <a:lvl5pPr marL="6268915" algn="l" defTabSz="1567229" rtl="0" fontAlgn="base">
      <a:spcBef>
        <a:spcPct val="0"/>
      </a:spcBef>
      <a:spcAft>
        <a:spcPct val="0"/>
      </a:spcAft>
      <a:defRPr kern="1200">
        <a:solidFill>
          <a:schemeClr val="tx1"/>
        </a:solidFill>
        <a:latin typeface="Arial" charset="0"/>
        <a:ea typeface="ＭＳ Ｐゴシック" pitchFamily="34" charset="-128"/>
        <a:cs typeface="+mn-cs"/>
      </a:defRPr>
    </a:lvl5pPr>
    <a:lvl6pPr marL="7836145" algn="l" defTabSz="3134456" rtl="0" eaLnBrk="1" latinLnBrk="0" hangingPunct="1">
      <a:defRPr kern="1200">
        <a:solidFill>
          <a:schemeClr val="tx1"/>
        </a:solidFill>
        <a:latin typeface="Arial" charset="0"/>
        <a:ea typeface="ＭＳ Ｐゴシック" pitchFamily="34" charset="-128"/>
        <a:cs typeface="+mn-cs"/>
      </a:defRPr>
    </a:lvl6pPr>
    <a:lvl7pPr marL="9403373" algn="l" defTabSz="3134456" rtl="0" eaLnBrk="1" latinLnBrk="0" hangingPunct="1">
      <a:defRPr kern="1200">
        <a:solidFill>
          <a:schemeClr val="tx1"/>
        </a:solidFill>
        <a:latin typeface="Arial" charset="0"/>
        <a:ea typeface="ＭＳ Ｐゴシック" pitchFamily="34" charset="-128"/>
        <a:cs typeface="+mn-cs"/>
      </a:defRPr>
    </a:lvl7pPr>
    <a:lvl8pPr marL="10970601" algn="l" defTabSz="3134456" rtl="0" eaLnBrk="1" latinLnBrk="0" hangingPunct="1">
      <a:defRPr kern="1200">
        <a:solidFill>
          <a:schemeClr val="tx1"/>
        </a:solidFill>
        <a:latin typeface="Arial" charset="0"/>
        <a:ea typeface="ＭＳ Ｐゴシック" pitchFamily="34" charset="-128"/>
        <a:cs typeface="+mn-cs"/>
      </a:defRPr>
    </a:lvl8pPr>
    <a:lvl9pPr marL="12537829" algn="l" defTabSz="3134456"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0C14"/>
    <a:srgbClr val="BCCFE6"/>
    <a:srgbClr val="C41230"/>
    <a:srgbClr val="AC2B37"/>
    <a:srgbClr val="B53443"/>
    <a:srgbClr val="FAAA47"/>
    <a:srgbClr val="4B647B"/>
    <a:srgbClr val="496279"/>
    <a:srgbClr val="476077"/>
    <a:srgbClr val="455E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snapToObjects="1">
      <p:cViewPr>
        <p:scale>
          <a:sx n="25" d="100"/>
          <a:sy n="25" d="100"/>
        </p:scale>
        <p:origin x="538" y="5"/>
      </p:cViewPr>
      <p:guideLst>
        <p:guide orient="horz" pos="6912"/>
        <p:guide pos="10368"/>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3" d="100"/>
          <a:sy n="83" d="100"/>
        </p:scale>
        <p:origin x="3132"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61186C1-2136-4F5C-81C5-7E7D5B4818E4}" type="datetimeFigureOut">
              <a:rPr lang="en-US" smtClean="0"/>
              <a:t>12/7/2025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524E169-9EE6-400B-8489-6CA7AC8B5725}" type="slidenum">
              <a:rPr lang="en-US" smtClean="0"/>
              <a:t>‹#›</a:t>
            </a:fld>
            <a:endParaRPr lang="en-US"/>
          </a:p>
        </p:txBody>
      </p:sp>
    </p:spTree>
    <p:extLst>
      <p:ext uri="{BB962C8B-B14F-4D97-AF65-F5344CB8AC3E}">
        <p14:creationId xmlns:p14="http://schemas.microsoft.com/office/powerpoint/2010/main" val="1343015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111" charset="0"/>
                <a:ea typeface="ＭＳ Ｐゴシック" pitchFamily="-111" charset="-128"/>
                <a:cs typeface="ＭＳ Ｐゴシック" pitchFamily="-111" charset="-128"/>
              </a:defRPr>
            </a:lvl1pPr>
          </a:lstStyle>
          <a:p>
            <a:pPr>
              <a:defRPr/>
            </a:pPr>
            <a:fld id="{5CED8F03-33F9-49DD-B78E-DE1AC6832885}" type="datetimeFigureOut">
              <a:rPr lang="en-US"/>
              <a:pPr>
                <a:defRPr/>
              </a:pPr>
              <a:t>12/7/2025</a:t>
            </a:fld>
            <a:endParaRPr lang="en-US"/>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111" charset="0"/>
                <a:ea typeface="ＭＳ Ｐゴシック" pitchFamily="-111" charset="-128"/>
                <a:cs typeface="ＭＳ Ｐゴシック" pitchFamily="-111" charset="-128"/>
              </a:defRPr>
            </a:lvl1pPr>
          </a:lstStyle>
          <a:p>
            <a:pPr>
              <a:defRPr/>
            </a:pPr>
            <a:fld id="{E535B096-6CBE-4AB3-9529-5688244F2DCE}" type="slidenum">
              <a:rPr lang="en-US"/>
              <a:pPr>
                <a:defRPr/>
              </a:pPr>
              <a:t>‹#›</a:t>
            </a:fld>
            <a:endParaRPr lang="en-US"/>
          </a:p>
        </p:txBody>
      </p:sp>
    </p:spTree>
    <p:extLst>
      <p:ext uri="{BB962C8B-B14F-4D97-AF65-F5344CB8AC3E}">
        <p14:creationId xmlns:p14="http://schemas.microsoft.com/office/powerpoint/2010/main" val="151204090"/>
      </p:ext>
    </p:extLst>
  </p:cSld>
  <p:clrMap bg1="lt1" tx1="dk1" bg2="lt2" tx2="dk2" accent1="accent1" accent2="accent2" accent3="accent3" accent4="accent4" accent5="accent5" accent6="accent6" hlink="hlink" folHlink="folHlink"/>
  <p:notesStyle>
    <a:lvl1pPr algn="l" defTabSz="1567229" rtl="0" eaLnBrk="0" fontAlgn="base" hangingPunct="0">
      <a:spcBef>
        <a:spcPct val="30000"/>
      </a:spcBef>
      <a:spcAft>
        <a:spcPct val="0"/>
      </a:spcAft>
      <a:defRPr sz="4143" kern="1200">
        <a:solidFill>
          <a:schemeClr val="tx1"/>
        </a:solidFill>
        <a:latin typeface="+mn-lt"/>
        <a:ea typeface="+mn-ea"/>
        <a:cs typeface="+mn-cs"/>
      </a:defRPr>
    </a:lvl1pPr>
    <a:lvl2pPr marL="1567229" algn="l" defTabSz="1567229" rtl="0" eaLnBrk="0" fontAlgn="base" hangingPunct="0">
      <a:spcBef>
        <a:spcPct val="30000"/>
      </a:spcBef>
      <a:spcAft>
        <a:spcPct val="0"/>
      </a:spcAft>
      <a:defRPr sz="4143" kern="1200">
        <a:solidFill>
          <a:schemeClr val="tx1"/>
        </a:solidFill>
        <a:latin typeface="+mn-lt"/>
        <a:ea typeface="+mn-ea"/>
        <a:cs typeface="+mn-cs"/>
      </a:defRPr>
    </a:lvl2pPr>
    <a:lvl3pPr marL="3134456" algn="l" defTabSz="1567229" rtl="0" eaLnBrk="0" fontAlgn="base" hangingPunct="0">
      <a:spcBef>
        <a:spcPct val="30000"/>
      </a:spcBef>
      <a:spcAft>
        <a:spcPct val="0"/>
      </a:spcAft>
      <a:defRPr sz="4143" kern="1200">
        <a:solidFill>
          <a:schemeClr val="tx1"/>
        </a:solidFill>
        <a:latin typeface="+mn-lt"/>
        <a:ea typeface="+mn-ea"/>
        <a:cs typeface="+mn-cs"/>
      </a:defRPr>
    </a:lvl3pPr>
    <a:lvl4pPr marL="4701683" algn="l" defTabSz="1567229" rtl="0" eaLnBrk="0" fontAlgn="base" hangingPunct="0">
      <a:spcBef>
        <a:spcPct val="30000"/>
      </a:spcBef>
      <a:spcAft>
        <a:spcPct val="0"/>
      </a:spcAft>
      <a:defRPr sz="4143" kern="1200">
        <a:solidFill>
          <a:schemeClr val="tx1"/>
        </a:solidFill>
        <a:latin typeface="+mn-lt"/>
        <a:ea typeface="+mn-ea"/>
        <a:cs typeface="+mn-cs"/>
      </a:defRPr>
    </a:lvl4pPr>
    <a:lvl5pPr marL="6268915" algn="l" defTabSz="1567229" rtl="0" eaLnBrk="0" fontAlgn="base" hangingPunct="0">
      <a:spcBef>
        <a:spcPct val="30000"/>
      </a:spcBef>
      <a:spcAft>
        <a:spcPct val="0"/>
      </a:spcAft>
      <a:defRPr sz="4143" kern="1200">
        <a:solidFill>
          <a:schemeClr val="tx1"/>
        </a:solidFill>
        <a:latin typeface="+mn-lt"/>
        <a:ea typeface="+mn-ea"/>
        <a:cs typeface="+mn-cs"/>
      </a:defRPr>
    </a:lvl5pPr>
    <a:lvl6pPr marL="7836145" algn="l" defTabSz="1567229" rtl="0" eaLnBrk="1" latinLnBrk="0" hangingPunct="1">
      <a:defRPr sz="4143" kern="1200">
        <a:solidFill>
          <a:schemeClr val="tx1"/>
        </a:solidFill>
        <a:latin typeface="+mn-lt"/>
        <a:ea typeface="+mn-ea"/>
        <a:cs typeface="+mn-cs"/>
      </a:defRPr>
    </a:lvl6pPr>
    <a:lvl7pPr marL="9403373" algn="l" defTabSz="1567229" rtl="0" eaLnBrk="1" latinLnBrk="0" hangingPunct="1">
      <a:defRPr sz="4143" kern="1200">
        <a:solidFill>
          <a:schemeClr val="tx1"/>
        </a:solidFill>
        <a:latin typeface="+mn-lt"/>
        <a:ea typeface="+mn-ea"/>
        <a:cs typeface="+mn-cs"/>
      </a:defRPr>
    </a:lvl7pPr>
    <a:lvl8pPr marL="10970601" algn="l" defTabSz="1567229" rtl="0" eaLnBrk="1" latinLnBrk="0" hangingPunct="1">
      <a:defRPr sz="4143" kern="1200">
        <a:solidFill>
          <a:schemeClr val="tx1"/>
        </a:solidFill>
        <a:latin typeface="+mn-lt"/>
        <a:ea typeface="+mn-ea"/>
        <a:cs typeface="+mn-cs"/>
      </a:defRPr>
    </a:lvl8pPr>
    <a:lvl9pPr marL="12537829" algn="l" defTabSz="1567229" rtl="0" eaLnBrk="1" latinLnBrk="0" hangingPunct="1">
      <a:defRPr sz="414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35B096-6CBE-4AB3-9529-5688244F2DCE}" type="slidenum">
              <a:rPr lang="en-US" smtClean="0"/>
              <a:pPr>
                <a:defRPr/>
              </a:pPr>
              <a:t>1</a:t>
            </a:fld>
            <a:endParaRPr lang="en-US"/>
          </a:p>
        </p:txBody>
      </p:sp>
    </p:spTree>
    <p:extLst>
      <p:ext uri="{BB962C8B-B14F-4D97-AF65-F5344CB8AC3E}">
        <p14:creationId xmlns:p14="http://schemas.microsoft.com/office/powerpoint/2010/main" val="3004073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569" y="6817180"/>
            <a:ext cx="27981275" cy="4703989"/>
          </a:xfrm>
          <a:prstGeom prst="rect">
            <a:avLst/>
          </a:prstGeom>
        </p:spPr>
        <p:txBody>
          <a:bodyPr lIns="120015" tIns="60008" rIns="120015" bIns="60008"/>
          <a:lstStyle/>
          <a:p>
            <a:r>
              <a:rPr lang="en-US"/>
              <a:t>Click to edit Master title style</a:t>
            </a:r>
          </a:p>
        </p:txBody>
      </p:sp>
      <p:sp>
        <p:nvSpPr>
          <p:cNvPr id="3" name="Subtitle 2"/>
          <p:cNvSpPr>
            <a:spLocks noGrp="1"/>
          </p:cNvSpPr>
          <p:nvPr>
            <p:ph type="subTitle" idx="1"/>
          </p:nvPr>
        </p:nvSpPr>
        <p:spPr>
          <a:xfrm>
            <a:off x="4937129" y="12435569"/>
            <a:ext cx="23044151" cy="5608864"/>
          </a:xfrm>
          <a:prstGeom prst="rect">
            <a:avLst/>
          </a:prstGeom>
        </p:spPr>
        <p:txBody>
          <a:bodyPr lIns="120015" tIns="60008" rIns="120015" bIns="60008"/>
          <a:lstStyle>
            <a:lvl1pPr marL="0" indent="0" algn="ctr">
              <a:buNone/>
              <a:defRPr>
                <a:solidFill>
                  <a:schemeClr val="tx1">
                    <a:tint val="75000"/>
                  </a:schemeClr>
                </a:solidFill>
              </a:defRPr>
            </a:lvl1pPr>
            <a:lvl2pPr marL="289341" indent="0" algn="ctr">
              <a:buNone/>
              <a:defRPr>
                <a:solidFill>
                  <a:schemeClr val="tx1">
                    <a:tint val="75000"/>
                  </a:schemeClr>
                </a:solidFill>
              </a:defRPr>
            </a:lvl2pPr>
            <a:lvl3pPr marL="578683" indent="0" algn="ctr">
              <a:buNone/>
              <a:defRPr>
                <a:solidFill>
                  <a:schemeClr val="tx1">
                    <a:tint val="75000"/>
                  </a:schemeClr>
                </a:solidFill>
              </a:defRPr>
            </a:lvl3pPr>
            <a:lvl4pPr marL="868024" indent="0" algn="ctr">
              <a:buNone/>
              <a:defRPr>
                <a:solidFill>
                  <a:schemeClr val="tx1">
                    <a:tint val="75000"/>
                  </a:schemeClr>
                </a:solidFill>
              </a:defRPr>
            </a:lvl4pPr>
            <a:lvl5pPr marL="1157365" indent="0" algn="ctr">
              <a:buNone/>
              <a:defRPr>
                <a:solidFill>
                  <a:schemeClr val="tx1">
                    <a:tint val="75000"/>
                  </a:schemeClr>
                </a:solidFill>
              </a:defRPr>
            </a:lvl5pPr>
            <a:lvl6pPr marL="1446706" indent="0" algn="ctr">
              <a:buNone/>
              <a:defRPr>
                <a:solidFill>
                  <a:schemeClr val="tx1">
                    <a:tint val="75000"/>
                  </a:schemeClr>
                </a:solidFill>
              </a:defRPr>
            </a:lvl6pPr>
            <a:lvl7pPr marL="1736047" indent="0" algn="ctr">
              <a:buNone/>
              <a:defRPr>
                <a:solidFill>
                  <a:schemeClr val="tx1">
                    <a:tint val="75000"/>
                  </a:schemeClr>
                </a:solidFill>
              </a:defRPr>
            </a:lvl7pPr>
            <a:lvl8pPr marL="2025388" indent="0" algn="ctr">
              <a:buNone/>
              <a:defRPr>
                <a:solidFill>
                  <a:schemeClr val="tx1">
                    <a:tint val="75000"/>
                  </a:schemeClr>
                </a:solidFill>
              </a:defRPr>
            </a:lvl8pPr>
            <a:lvl9pPr marL="2314729"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69577586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4B647B"/>
            </a:gs>
            <a:gs pos="100000">
              <a:srgbClr val="292E36"/>
            </a:gs>
          </a:gsLst>
          <a:lin ang="5400000"/>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8" r:id="rId1"/>
  </p:sldLayoutIdLst>
  <p:txStyles>
    <p:titleStyle>
      <a:lvl1pPr algn="ctr" defTabSz="1058150" rtl="0" fontAlgn="base">
        <a:spcBef>
          <a:spcPct val="0"/>
        </a:spcBef>
        <a:spcAft>
          <a:spcPct val="0"/>
        </a:spcAft>
        <a:defRPr sz="10174" kern="1200">
          <a:solidFill>
            <a:schemeClr val="tx1"/>
          </a:solidFill>
          <a:latin typeface="+mj-lt"/>
          <a:ea typeface="ＭＳ Ｐゴシック" pitchFamily="-111" charset="-128"/>
          <a:cs typeface="ＭＳ Ｐゴシック" pitchFamily="-111" charset="-128"/>
        </a:defRPr>
      </a:lvl1pPr>
      <a:lvl2pPr algn="ctr" defTabSz="1058150"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2pPr>
      <a:lvl3pPr algn="ctr" defTabSz="1058150"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3pPr>
      <a:lvl4pPr algn="ctr" defTabSz="1058150"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4pPr>
      <a:lvl5pPr algn="ctr" defTabSz="1058150" rtl="0" fontAlgn="base">
        <a:spcBef>
          <a:spcPct val="0"/>
        </a:spcBef>
        <a:spcAft>
          <a:spcPct val="0"/>
        </a:spcAft>
        <a:defRPr sz="10174">
          <a:solidFill>
            <a:schemeClr val="tx1"/>
          </a:solidFill>
          <a:latin typeface="Arial" charset="0"/>
          <a:ea typeface="ＭＳ Ｐゴシック" pitchFamily="-111" charset="-128"/>
          <a:cs typeface="ＭＳ Ｐゴシック" pitchFamily="-111" charset="-128"/>
        </a:defRPr>
      </a:lvl5pPr>
      <a:lvl6pPr marL="1058150" algn="ctr" defTabSz="1058150"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6pPr>
      <a:lvl7pPr marL="2116299" algn="ctr" defTabSz="1058150"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7pPr>
      <a:lvl8pPr marL="3174449" algn="ctr" defTabSz="1058150"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8pPr>
      <a:lvl9pPr marL="4232598" algn="ctr" defTabSz="1058150" rtl="0" eaLnBrk="1" fontAlgn="base" hangingPunct="1">
        <a:spcBef>
          <a:spcPct val="0"/>
        </a:spcBef>
        <a:spcAft>
          <a:spcPct val="0"/>
        </a:spcAft>
        <a:defRPr sz="10174">
          <a:solidFill>
            <a:schemeClr val="tx1"/>
          </a:solidFill>
          <a:latin typeface="Calibri" pitchFamily="-111" charset="0"/>
          <a:ea typeface="ＭＳ Ｐゴシック" pitchFamily="-111" charset="-128"/>
          <a:cs typeface="ＭＳ Ｐゴシック" pitchFamily="-111" charset="-128"/>
        </a:defRPr>
      </a:lvl9pPr>
    </p:titleStyle>
    <p:bodyStyle>
      <a:lvl1pPr marL="793612" indent="-793612" algn="l" defTabSz="1058150" rtl="0" fontAlgn="base">
        <a:spcBef>
          <a:spcPct val="20000"/>
        </a:spcBef>
        <a:spcAft>
          <a:spcPct val="0"/>
        </a:spcAft>
        <a:buFont typeface="Arial" charset="0"/>
        <a:buChar char="•"/>
        <a:defRPr sz="7425" kern="1200">
          <a:solidFill>
            <a:schemeClr val="tx1"/>
          </a:solidFill>
          <a:latin typeface="+mn-lt"/>
          <a:ea typeface="ＭＳ Ｐゴシック" pitchFamily="-111" charset="-128"/>
          <a:cs typeface="ＭＳ Ｐゴシック" pitchFamily="-111" charset="-128"/>
        </a:defRPr>
      </a:lvl1pPr>
      <a:lvl2pPr marL="1719493" indent="-661344" algn="l" defTabSz="1058150" rtl="0" fontAlgn="base">
        <a:spcBef>
          <a:spcPct val="20000"/>
        </a:spcBef>
        <a:spcAft>
          <a:spcPct val="0"/>
        </a:spcAft>
        <a:buFont typeface="Arial" charset="0"/>
        <a:buChar char="–"/>
        <a:defRPr sz="6461" kern="1200">
          <a:solidFill>
            <a:schemeClr val="tx1"/>
          </a:solidFill>
          <a:latin typeface="+mn-lt"/>
          <a:ea typeface="ＭＳ Ｐゴシック" pitchFamily="-111" charset="-128"/>
          <a:cs typeface="+mn-cs"/>
        </a:defRPr>
      </a:lvl2pPr>
      <a:lvl3pPr marL="2645373" indent="-529075" algn="l" defTabSz="1058150" rtl="0" fontAlgn="base">
        <a:spcBef>
          <a:spcPct val="20000"/>
        </a:spcBef>
        <a:spcAft>
          <a:spcPct val="0"/>
        </a:spcAft>
        <a:buFont typeface="Arial" charset="0"/>
        <a:buChar char="•"/>
        <a:defRPr sz="5593" kern="1200">
          <a:solidFill>
            <a:schemeClr val="tx1"/>
          </a:solidFill>
          <a:latin typeface="+mn-lt"/>
          <a:ea typeface="ＭＳ Ｐゴシック" pitchFamily="-111" charset="-128"/>
          <a:cs typeface="+mn-cs"/>
        </a:defRPr>
      </a:lvl3pPr>
      <a:lvl4pPr marL="3703523" indent="-529075" algn="l" defTabSz="1058150" rtl="0" fontAlgn="base">
        <a:spcBef>
          <a:spcPct val="20000"/>
        </a:spcBef>
        <a:spcAft>
          <a:spcPct val="0"/>
        </a:spcAft>
        <a:buFont typeface="Arial" charset="0"/>
        <a:buChar char="–"/>
        <a:defRPr sz="4629" kern="1200">
          <a:solidFill>
            <a:schemeClr val="tx1"/>
          </a:solidFill>
          <a:latin typeface="+mn-lt"/>
          <a:ea typeface="ＭＳ Ｐゴシック" pitchFamily="-111" charset="-128"/>
          <a:cs typeface="+mn-cs"/>
        </a:defRPr>
      </a:lvl4pPr>
      <a:lvl5pPr marL="4761674" indent="-529075" algn="l" defTabSz="1058150" rtl="0" fontAlgn="base">
        <a:spcBef>
          <a:spcPct val="20000"/>
        </a:spcBef>
        <a:spcAft>
          <a:spcPct val="0"/>
        </a:spcAft>
        <a:buFont typeface="Arial" charset="0"/>
        <a:buChar char="»"/>
        <a:defRPr sz="4629" kern="1200">
          <a:solidFill>
            <a:schemeClr val="tx1"/>
          </a:solidFill>
          <a:latin typeface="+mn-lt"/>
          <a:ea typeface="ＭＳ Ｐゴシック" pitchFamily="-111" charset="-128"/>
          <a:cs typeface="+mn-cs"/>
        </a:defRPr>
      </a:lvl5pPr>
      <a:lvl6pPr marL="5819823" indent="-529075" algn="l" defTabSz="1058150" rtl="0" eaLnBrk="1" latinLnBrk="0" hangingPunct="1">
        <a:spcBef>
          <a:spcPct val="20000"/>
        </a:spcBef>
        <a:buFont typeface="Arial"/>
        <a:buChar char="•"/>
        <a:defRPr sz="4629" kern="1200">
          <a:solidFill>
            <a:schemeClr val="tx1"/>
          </a:solidFill>
          <a:latin typeface="+mn-lt"/>
          <a:ea typeface="+mn-ea"/>
          <a:cs typeface="+mn-cs"/>
        </a:defRPr>
      </a:lvl6pPr>
      <a:lvl7pPr marL="6877972" indent="-529075" algn="l" defTabSz="1058150" rtl="0" eaLnBrk="1" latinLnBrk="0" hangingPunct="1">
        <a:spcBef>
          <a:spcPct val="20000"/>
        </a:spcBef>
        <a:buFont typeface="Arial"/>
        <a:buChar char="•"/>
        <a:defRPr sz="4629" kern="1200">
          <a:solidFill>
            <a:schemeClr val="tx1"/>
          </a:solidFill>
          <a:latin typeface="+mn-lt"/>
          <a:ea typeface="+mn-ea"/>
          <a:cs typeface="+mn-cs"/>
        </a:defRPr>
      </a:lvl7pPr>
      <a:lvl8pPr marL="7936122" indent="-529075" algn="l" defTabSz="1058150" rtl="0" eaLnBrk="1" latinLnBrk="0" hangingPunct="1">
        <a:spcBef>
          <a:spcPct val="20000"/>
        </a:spcBef>
        <a:buFont typeface="Arial"/>
        <a:buChar char="•"/>
        <a:defRPr sz="4629" kern="1200">
          <a:solidFill>
            <a:schemeClr val="tx1"/>
          </a:solidFill>
          <a:latin typeface="+mn-lt"/>
          <a:ea typeface="+mn-ea"/>
          <a:cs typeface="+mn-cs"/>
        </a:defRPr>
      </a:lvl8pPr>
      <a:lvl9pPr marL="8994271" indent="-529075" algn="l" defTabSz="1058150" rtl="0" eaLnBrk="1" latinLnBrk="0" hangingPunct="1">
        <a:spcBef>
          <a:spcPct val="20000"/>
        </a:spcBef>
        <a:buFont typeface="Arial"/>
        <a:buChar char="•"/>
        <a:defRPr sz="4629" kern="1200">
          <a:solidFill>
            <a:schemeClr val="tx1"/>
          </a:solidFill>
          <a:latin typeface="+mn-lt"/>
          <a:ea typeface="+mn-ea"/>
          <a:cs typeface="+mn-cs"/>
        </a:defRPr>
      </a:lvl9pPr>
    </p:bodyStyle>
    <p:otherStyle>
      <a:defPPr>
        <a:defRPr lang="en-US"/>
      </a:defPPr>
      <a:lvl1pPr marL="0" algn="l" defTabSz="1058150" rtl="0" eaLnBrk="1" latinLnBrk="0" hangingPunct="1">
        <a:defRPr sz="4195" kern="1200">
          <a:solidFill>
            <a:schemeClr val="tx1"/>
          </a:solidFill>
          <a:latin typeface="+mn-lt"/>
          <a:ea typeface="+mn-ea"/>
          <a:cs typeface="+mn-cs"/>
        </a:defRPr>
      </a:lvl1pPr>
      <a:lvl2pPr marL="1058150" algn="l" defTabSz="1058150" rtl="0" eaLnBrk="1" latinLnBrk="0" hangingPunct="1">
        <a:defRPr sz="4195" kern="1200">
          <a:solidFill>
            <a:schemeClr val="tx1"/>
          </a:solidFill>
          <a:latin typeface="+mn-lt"/>
          <a:ea typeface="+mn-ea"/>
          <a:cs typeface="+mn-cs"/>
        </a:defRPr>
      </a:lvl2pPr>
      <a:lvl3pPr marL="2116299" algn="l" defTabSz="1058150" rtl="0" eaLnBrk="1" latinLnBrk="0" hangingPunct="1">
        <a:defRPr sz="4195" kern="1200">
          <a:solidFill>
            <a:schemeClr val="tx1"/>
          </a:solidFill>
          <a:latin typeface="+mn-lt"/>
          <a:ea typeface="+mn-ea"/>
          <a:cs typeface="+mn-cs"/>
        </a:defRPr>
      </a:lvl3pPr>
      <a:lvl4pPr marL="3174449" algn="l" defTabSz="1058150" rtl="0" eaLnBrk="1" latinLnBrk="0" hangingPunct="1">
        <a:defRPr sz="4195" kern="1200">
          <a:solidFill>
            <a:schemeClr val="tx1"/>
          </a:solidFill>
          <a:latin typeface="+mn-lt"/>
          <a:ea typeface="+mn-ea"/>
          <a:cs typeface="+mn-cs"/>
        </a:defRPr>
      </a:lvl4pPr>
      <a:lvl5pPr marL="4232598" algn="l" defTabSz="1058150" rtl="0" eaLnBrk="1" latinLnBrk="0" hangingPunct="1">
        <a:defRPr sz="4195" kern="1200">
          <a:solidFill>
            <a:schemeClr val="tx1"/>
          </a:solidFill>
          <a:latin typeface="+mn-lt"/>
          <a:ea typeface="+mn-ea"/>
          <a:cs typeface="+mn-cs"/>
        </a:defRPr>
      </a:lvl5pPr>
      <a:lvl6pPr marL="5290748" algn="l" defTabSz="1058150" rtl="0" eaLnBrk="1" latinLnBrk="0" hangingPunct="1">
        <a:defRPr sz="4195" kern="1200">
          <a:solidFill>
            <a:schemeClr val="tx1"/>
          </a:solidFill>
          <a:latin typeface="+mn-lt"/>
          <a:ea typeface="+mn-ea"/>
          <a:cs typeface="+mn-cs"/>
        </a:defRPr>
      </a:lvl6pPr>
      <a:lvl7pPr marL="6348898" algn="l" defTabSz="1058150" rtl="0" eaLnBrk="1" latinLnBrk="0" hangingPunct="1">
        <a:defRPr sz="4195" kern="1200">
          <a:solidFill>
            <a:schemeClr val="tx1"/>
          </a:solidFill>
          <a:latin typeface="+mn-lt"/>
          <a:ea typeface="+mn-ea"/>
          <a:cs typeface="+mn-cs"/>
        </a:defRPr>
      </a:lvl7pPr>
      <a:lvl8pPr marL="7407047" algn="l" defTabSz="1058150" rtl="0" eaLnBrk="1" latinLnBrk="0" hangingPunct="1">
        <a:defRPr sz="4195" kern="1200">
          <a:solidFill>
            <a:schemeClr val="tx1"/>
          </a:solidFill>
          <a:latin typeface="+mn-lt"/>
          <a:ea typeface="+mn-ea"/>
          <a:cs typeface="+mn-cs"/>
        </a:defRPr>
      </a:lvl8pPr>
      <a:lvl9pPr marL="8465197" algn="l" defTabSz="1058150" rtl="0" eaLnBrk="1" latinLnBrk="0" hangingPunct="1">
        <a:defRPr sz="41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2">
                <a:lumMod val="40000"/>
                <a:lumOff val="60000"/>
              </a:schemeClr>
            </a:gs>
            <a:gs pos="100000">
              <a:schemeClr val="tx2">
                <a:lumMod val="75000"/>
              </a:schemeClr>
            </a:gs>
          </a:gsLst>
          <a:lin ang="5400000"/>
        </a:gradFill>
        <a:effectLst/>
      </p:bgPr>
    </p:bg>
    <p:spTree>
      <p:nvGrpSpPr>
        <p:cNvPr id="1" name=""/>
        <p:cNvGrpSpPr/>
        <p:nvPr/>
      </p:nvGrpSpPr>
      <p:grpSpPr>
        <a:xfrm>
          <a:off x="0" y="0"/>
          <a:ext cx="0" cy="0"/>
          <a:chOff x="0" y="0"/>
          <a:chExt cx="0" cy="0"/>
        </a:xfrm>
      </p:grpSpPr>
      <p:sp>
        <p:nvSpPr>
          <p:cNvPr id="4" name="AutoShape 40">
            <a:extLst>
              <a:ext uri="{FF2B5EF4-FFF2-40B4-BE49-F238E27FC236}">
                <a16:creationId xmlns:a16="http://schemas.microsoft.com/office/drawing/2014/main" id="{9C1788D6-A812-E562-73F6-811E317D78C5}"/>
              </a:ext>
            </a:extLst>
          </p:cNvPr>
          <p:cNvSpPr>
            <a:spLocks noChangeArrowheads="1"/>
          </p:cNvSpPr>
          <p:nvPr/>
        </p:nvSpPr>
        <p:spPr bwMode="auto">
          <a:xfrm>
            <a:off x="21670031" y="11776440"/>
            <a:ext cx="10680961" cy="4928433"/>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r>
              <a:rPr lang="en-US" sz="3600" b="1" dirty="0"/>
              <a:t>Pugh Decision Chart for Model Type</a:t>
            </a:r>
          </a:p>
        </p:txBody>
      </p:sp>
      <p:sp>
        <p:nvSpPr>
          <p:cNvPr id="15" name="Round Same Side Corner Rectangle 14"/>
          <p:cNvSpPr/>
          <p:nvPr/>
        </p:nvSpPr>
        <p:spPr>
          <a:xfrm rot="10800000">
            <a:off x="0" y="0"/>
            <a:ext cx="32918400" cy="3417150"/>
          </a:xfrm>
          <a:prstGeom prst="round2SameRect">
            <a:avLst>
              <a:gd name="adj1" fmla="val 0"/>
              <a:gd name="adj2" fmla="val 0"/>
            </a:avLst>
          </a:prstGeom>
          <a:solidFill>
            <a:srgbClr val="BCCFE6"/>
          </a:solidFill>
          <a:ln>
            <a:solidFill>
              <a:schemeClr val="accent1">
                <a:lumMod val="40000"/>
                <a:lumOff val="60000"/>
              </a:schemeClr>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8783" tIns="29391" rIns="58783" bIns="29391" numCol="1" spcCol="0" rtlCol="0" fromWordArt="0" anchor="ctr" anchorCtr="0" forceAA="0" compatLnSpc="1">
            <a:prstTxWarp prst="textNoShape">
              <a:avLst/>
            </a:prstTxWarp>
            <a:noAutofit/>
          </a:bodyPr>
          <a:lstStyle/>
          <a:p>
            <a:pPr algn="ctr"/>
            <a:endParaRPr lang="en-US"/>
          </a:p>
        </p:txBody>
      </p:sp>
      <p:sp>
        <p:nvSpPr>
          <p:cNvPr id="9" name="AutoShape 25"/>
          <p:cNvSpPr>
            <a:spLocks noChangeArrowheads="1"/>
          </p:cNvSpPr>
          <p:nvPr/>
        </p:nvSpPr>
        <p:spPr bwMode="auto">
          <a:xfrm>
            <a:off x="11658275" y="6565626"/>
            <a:ext cx="9680119" cy="4562147"/>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7864" tIns="28932" rIns="57864" bIns="28932" anchor="t"/>
          <a:lstStyle/>
          <a:p>
            <a:pPr lvl="1" algn="just"/>
            <a:endParaRPr lang="en-US" sz="1784" b="1" dirty="0"/>
          </a:p>
        </p:txBody>
      </p:sp>
      <p:sp>
        <p:nvSpPr>
          <p:cNvPr id="10" name="AutoShape 17"/>
          <p:cNvSpPr>
            <a:spLocks noChangeArrowheads="1"/>
          </p:cNvSpPr>
          <p:nvPr/>
        </p:nvSpPr>
        <p:spPr bwMode="auto">
          <a:xfrm>
            <a:off x="567408" y="3722014"/>
            <a:ext cx="10582990" cy="4562147"/>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182880" anchor="t"/>
          <a:lstStyle/>
          <a:p>
            <a:pPr algn="ctr"/>
            <a:r>
              <a:rPr lang="en-US" sz="3600" b="1" dirty="0">
                <a:latin typeface="Cambria" panose="02040503050406030204" pitchFamily="18" charset="0"/>
                <a:ea typeface="Cambria" panose="02040503050406030204" pitchFamily="18" charset="0"/>
              </a:rPr>
              <a:t>Introduction</a:t>
            </a:r>
          </a:p>
          <a:p>
            <a:r>
              <a:rPr lang="en-US" sz="2300" dirty="0">
                <a:latin typeface="+mn-lt"/>
              </a:rPr>
              <a:t>Online mapping using methods that are not always frequently updated results in low quality maps for many people.</a:t>
            </a:r>
            <a:r>
              <a:rPr lang="en-US" sz="2300" b="1" dirty="0">
                <a:latin typeface="+mn-lt"/>
              </a:rPr>
              <a:t> </a:t>
            </a:r>
            <a:r>
              <a:rPr lang="en-US" sz="2300" b="0" i="0" u="none" strike="noStrike" dirty="0">
                <a:solidFill>
                  <a:srgbClr val="021426"/>
                </a:solidFill>
                <a:effectLst/>
                <a:latin typeface="+mn-lt"/>
              </a:rPr>
              <a:t>This is a large problem, especially for the millions of people that live in areas that are not so frequently mapped by large scale providers like Apple or Google Maps. It affects areas both remote rural regions and rapidly changing urban regions often do not have high-quality and frequently updated maps. </a:t>
            </a:r>
          </a:p>
          <a:p>
            <a:endParaRPr lang="en-US" sz="2300" b="1" dirty="0">
              <a:latin typeface="+mn-lt"/>
            </a:endParaRPr>
          </a:p>
          <a:p>
            <a:r>
              <a:rPr lang="en-US" sz="2300" dirty="0">
                <a:latin typeface="+mn-lt"/>
              </a:rPr>
              <a:t>The aim of this project is to build a drone that can autonomously map a road system. This will be done using a drone that has a camera mounted onboard. After collecting the data, the drone will transfer it to another device, where it will be rendered as an actual map that can be used to navigate.</a:t>
            </a:r>
            <a:endParaRPr lang="en-US" sz="2300" b="1" dirty="0">
              <a:latin typeface="+mn-lt"/>
              <a:ea typeface="Cambria" panose="02040503050406030204" pitchFamily="18" charset="0"/>
            </a:endParaRPr>
          </a:p>
          <a:p>
            <a:pPr algn="ctr"/>
            <a:endParaRPr lang="en-US" sz="530" dirty="0">
              <a:latin typeface="Cambria" panose="02040503050406030204" pitchFamily="18" charset="0"/>
              <a:ea typeface="Cambria" panose="02040503050406030204" pitchFamily="18" charset="0"/>
            </a:endParaRPr>
          </a:p>
          <a:p>
            <a:pPr algn="just"/>
            <a:r>
              <a:rPr lang="en-US" sz="2400" b="1" dirty="0">
                <a:latin typeface="Cambria" panose="02040503050406030204" pitchFamily="18" charset="0"/>
                <a:ea typeface="Cambria" panose="02040503050406030204" pitchFamily="18" charset="0"/>
              </a:rPr>
              <a:t>  </a:t>
            </a:r>
          </a:p>
        </p:txBody>
      </p:sp>
      <p:sp>
        <p:nvSpPr>
          <p:cNvPr id="12" name="AutoShape 20"/>
          <p:cNvSpPr>
            <a:spLocks noChangeArrowheads="1"/>
          </p:cNvSpPr>
          <p:nvPr/>
        </p:nvSpPr>
        <p:spPr bwMode="auto">
          <a:xfrm>
            <a:off x="567408" y="8414568"/>
            <a:ext cx="10582989" cy="7379916"/>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182880" anchor="t"/>
          <a:lstStyle/>
          <a:p>
            <a:pPr algn="ctr"/>
            <a:r>
              <a:rPr lang="en-US" sz="3600" b="1" dirty="0">
                <a:latin typeface="Cambria" panose="02040503050406030204" pitchFamily="18" charset="0"/>
                <a:ea typeface="Cambria" panose="02040503050406030204" pitchFamily="18" charset="0"/>
              </a:rPr>
              <a:t>Background</a:t>
            </a:r>
          </a:p>
          <a:p>
            <a:pPr algn="ctr"/>
            <a:endParaRPr lang="en-US" sz="530" b="1"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300" dirty="0">
                <a:latin typeface="+mn-lt"/>
              </a:rPr>
              <a:t>Current methods for mapping road infrastructure primarily rely on satellite imagery, or manned vehicles such as Google’s Street view cars. </a:t>
            </a:r>
          </a:p>
          <a:p>
            <a:pPr marL="342900" indent="-342900">
              <a:buFont typeface="Arial" panose="020B0604020202020204" pitchFamily="34" charset="0"/>
              <a:buChar char="•"/>
            </a:pPr>
            <a:r>
              <a:rPr lang="en-US" sz="2300" dirty="0">
                <a:latin typeface="+mn-lt"/>
              </a:rPr>
              <a:t>These methods can provide accurate maps but are largely inefficient due to their high cost and low speed</a:t>
            </a:r>
          </a:p>
          <a:p>
            <a:pPr marL="342900" indent="-342900">
              <a:buFont typeface="Arial" panose="020B0604020202020204" pitchFamily="34" charset="0"/>
              <a:buChar char="•"/>
            </a:pPr>
            <a:r>
              <a:rPr lang="en-US" sz="2300" dirty="0">
                <a:latin typeface="+mn-lt"/>
              </a:rPr>
              <a:t>Images made by satellites often have low spatial resolution which can reduce the precision of the data. </a:t>
            </a:r>
          </a:p>
          <a:p>
            <a:pPr marL="342900" indent="-342900">
              <a:buFont typeface="Arial" panose="020B0604020202020204" pitchFamily="34" charset="0"/>
              <a:buChar char="•"/>
            </a:pPr>
            <a:r>
              <a:rPr lang="en-US" sz="2300" dirty="0">
                <a:latin typeface="+mn-lt"/>
              </a:rPr>
              <a:t>Worse, these satellites depend on the area having good weather and no cloud cover.</a:t>
            </a:r>
          </a:p>
          <a:p>
            <a:pPr marL="342900" indent="-342900">
              <a:buFont typeface="Arial" panose="020B0604020202020204" pitchFamily="34" charset="0"/>
              <a:buChar char="•"/>
            </a:pPr>
            <a:r>
              <a:rPr lang="en-US" sz="2300" dirty="0">
                <a:latin typeface="+mn-lt"/>
              </a:rPr>
              <a:t>On the other hand, vehicle-based mapping systems that use LiDAR, cameras, and GPS system are extremely difficult to logistically, since they require a large number of resources</a:t>
            </a:r>
          </a:p>
          <a:p>
            <a:pPr marL="342900" indent="-342900">
              <a:buFont typeface="Arial" panose="020B0604020202020204" pitchFamily="34" charset="0"/>
              <a:buChar char="•"/>
            </a:pPr>
            <a:r>
              <a:rPr lang="en-US" sz="2300" dirty="0">
                <a:latin typeface="+mn-lt"/>
              </a:rPr>
              <a:t>In addition, these vehicles are not at all autonomous, meaning that they require skilled personnel to operate. </a:t>
            </a:r>
          </a:p>
          <a:p>
            <a:pPr marL="342900" indent="-342900">
              <a:buFont typeface="Arial" panose="020B0604020202020204" pitchFamily="34" charset="0"/>
              <a:buChar char="•"/>
            </a:pPr>
            <a:r>
              <a:rPr lang="en-US" sz="2300" dirty="0">
                <a:latin typeface="+mn-lt"/>
              </a:rPr>
              <a:t>Therefore, vehicle-based mapping systems are only viable in more urbanized areas which can support the equipment required. </a:t>
            </a:r>
          </a:p>
          <a:p>
            <a:pPr marL="342900" indent="-342900">
              <a:buFont typeface="Arial" panose="020B0604020202020204" pitchFamily="34" charset="0"/>
              <a:buChar char="•"/>
            </a:pPr>
            <a:r>
              <a:rPr lang="en-US" sz="2300" dirty="0">
                <a:latin typeface="+mn-lt"/>
              </a:rPr>
              <a:t>More remote regions, on the other hand, lack the infrastructure, making these vehicles hard to support and leaving no financial incentives to businesses to maintain coverage.</a:t>
            </a:r>
          </a:p>
        </p:txBody>
      </p:sp>
      <p:sp>
        <p:nvSpPr>
          <p:cNvPr id="17" name="AutoShape 32"/>
          <p:cNvSpPr>
            <a:spLocks noChangeArrowheads="1"/>
          </p:cNvSpPr>
          <p:nvPr/>
        </p:nvSpPr>
        <p:spPr bwMode="auto">
          <a:xfrm>
            <a:off x="11575436" y="16308959"/>
            <a:ext cx="9762958" cy="5453812"/>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122" dirty="0">
              <a:latin typeface="+mn-lt"/>
            </a:endParaRPr>
          </a:p>
          <a:p>
            <a:pPr algn="ctr"/>
            <a:endParaRPr lang="en-US" sz="2300" dirty="0">
              <a:latin typeface="+mn-lt"/>
            </a:endParaRPr>
          </a:p>
          <a:p>
            <a:r>
              <a:rPr lang="en-US" sz="2300" dirty="0">
                <a:latin typeface="+mn-lt"/>
              </a:rPr>
              <a:t>Successful implementation of a YOLO CV model where all pixels identified to be within the road are highlighted in green. Notably, this method does not produce an accurate “overall direction” of the road but is does show the exact path. Therefore, this method is more computationally expensive, as is requires both preprocessing and postprocessing on the incoming data.</a:t>
            </a:r>
          </a:p>
          <a:p>
            <a:endParaRPr lang="en-US" sz="2122" dirty="0">
              <a:latin typeface="+mn-lt"/>
            </a:endParaRPr>
          </a:p>
        </p:txBody>
      </p:sp>
      <p:sp>
        <p:nvSpPr>
          <p:cNvPr id="20" name="AutoShape 36"/>
          <p:cNvSpPr>
            <a:spLocks noChangeArrowheads="1"/>
          </p:cNvSpPr>
          <p:nvPr/>
        </p:nvSpPr>
        <p:spPr bwMode="auto">
          <a:xfrm>
            <a:off x="21678948" y="16834337"/>
            <a:ext cx="10672044" cy="4928433"/>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74320" rIns="274320" bIns="274320" anchor="t"/>
          <a:lstStyle/>
          <a:p>
            <a:pPr algn="ctr"/>
            <a:r>
              <a:rPr lang="en-US" sz="3600" b="1" dirty="0"/>
              <a:t>Further Applications</a:t>
            </a:r>
          </a:p>
          <a:p>
            <a:r>
              <a:rPr lang="en-US" sz="2300" dirty="0">
                <a:latin typeface="+mn-lt"/>
              </a:rPr>
              <a:t>This system has the potential to serve much more than just navigation. </a:t>
            </a:r>
          </a:p>
          <a:p>
            <a:pPr marL="342900" indent="-342900">
              <a:buFont typeface="Arial" panose="020B0604020202020204" pitchFamily="34" charset="0"/>
              <a:buChar char="•"/>
            </a:pPr>
            <a:r>
              <a:rPr lang="en-US" sz="2300" dirty="0">
                <a:latin typeface="+mn-lt"/>
              </a:rPr>
              <a:t>In a disaster response scenario, drones equipped with this technology could rapidly scan and map road networks, detect blockages or damage, and relay information on how to navigate through damaged infrastructure in real time. Early detection of damaged roads could prevent accidents, guide emergency responders, and support faster recovery efforts. In a natural disaster drones equipped with this system could be deployed within minutes. They could scan road networks, identify blocked or collapsed roads, and provide real-time updates to emergency response teams. This rapid information flow could save lives by directing responders along safe routes or helping residents evacuate more quickly.</a:t>
            </a:r>
          </a:p>
          <a:p>
            <a:br>
              <a:rPr lang="en-US" sz="2400" dirty="0"/>
            </a:br>
            <a:endParaRPr lang="en-US" sz="2400" dirty="0"/>
          </a:p>
        </p:txBody>
      </p:sp>
      <p:sp>
        <p:nvSpPr>
          <p:cNvPr id="24" name="AutoShape 40"/>
          <p:cNvSpPr>
            <a:spLocks noChangeArrowheads="1"/>
          </p:cNvSpPr>
          <p:nvPr/>
        </p:nvSpPr>
        <p:spPr bwMode="auto">
          <a:xfrm>
            <a:off x="21670031" y="3738008"/>
            <a:ext cx="10680961" cy="7875524"/>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r>
              <a:rPr lang="en-US" sz="3600" b="1" dirty="0"/>
              <a:t>Analysis</a:t>
            </a:r>
          </a:p>
          <a:p>
            <a:r>
              <a:rPr lang="en-US" sz="2300" dirty="0">
                <a:latin typeface="+mn-lt"/>
              </a:rPr>
              <a:t>The bounding-box method achieved a 95% detection rate for the location of the road with a very low latency of 7 </a:t>
            </a:r>
            <a:r>
              <a:rPr lang="en-US" sz="2300" dirty="0" err="1">
                <a:latin typeface="+mn-lt"/>
              </a:rPr>
              <a:t>ms.</a:t>
            </a:r>
            <a:r>
              <a:rPr lang="en-US" sz="2300" dirty="0">
                <a:latin typeface="+mn-lt"/>
              </a:rPr>
              <a:t> However, it could only find the general direction of the road 17.5% of the frames that it was tested on. Worse, its reliance on color similarity, reduces the model’s capability to adapt. Therefore, this method is too sensitive to be practical.</a:t>
            </a:r>
          </a:p>
          <a:p>
            <a:endParaRPr lang="en-US" sz="2300" dirty="0">
              <a:latin typeface="+mn-lt"/>
            </a:endParaRPr>
          </a:p>
          <a:p>
            <a:r>
              <a:rPr lang="en-US" sz="2300" dirty="0">
                <a:latin typeface="+mn-lt"/>
              </a:rPr>
              <a:t>The pretrained Image Classifier, detected the road in 35% of frames with a latency of 142 </a:t>
            </a:r>
            <a:r>
              <a:rPr lang="en-US" sz="2300" dirty="0" err="1">
                <a:latin typeface="+mn-lt"/>
              </a:rPr>
              <a:t>ms.</a:t>
            </a:r>
            <a:r>
              <a:rPr lang="en-US" sz="2300" dirty="0">
                <a:latin typeface="+mn-lt"/>
              </a:rPr>
              <a:t> The lower accuracy means the training data was too generic. Due to its highest latency, this method is both inaccurate and inefficient.</a:t>
            </a:r>
          </a:p>
          <a:p>
            <a:endParaRPr lang="en-US" sz="2300" dirty="0">
              <a:latin typeface="+mn-lt"/>
            </a:endParaRPr>
          </a:p>
          <a:p>
            <a:r>
              <a:rPr lang="en-US" sz="2300" dirty="0">
                <a:latin typeface="+mn-lt"/>
              </a:rPr>
              <a:t>The custom YOLO model successfully identified the area of the road 100% of the time. It also produced high detail pixel segmentation that found each pixel that contained the road. With a 97% accuracy, this model found the road’s exact shape and boundaries. However, this high accuracy comes at a computational cost of 100 </a:t>
            </a:r>
            <a:r>
              <a:rPr lang="en-US" sz="2300" dirty="0" err="1">
                <a:latin typeface="+mn-lt"/>
              </a:rPr>
              <a:t>ms</a:t>
            </a:r>
            <a:r>
              <a:rPr lang="en-US" sz="2300" dirty="0">
                <a:latin typeface="+mn-lt"/>
              </a:rPr>
              <a:t> per frame. Despite the higher computational load, the accuracy and reliability of this method make it the most effective strategy evaluated.</a:t>
            </a:r>
          </a:p>
          <a:p>
            <a:endParaRPr lang="en-US" sz="2300" dirty="0">
              <a:latin typeface="+mn-lt"/>
            </a:endParaRPr>
          </a:p>
          <a:p>
            <a:r>
              <a:rPr lang="en-US" sz="2300" dirty="0">
                <a:latin typeface="+mn-lt"/>
              </a:rPr>
              <a:t>Therefore, with this information and the Pugh Chart below, it was determined that the custom-trained YOLO computer vision model performed the strongest among all tested approaches. </a:t>
            </a:r>
          </a:p>
          <a:p>
            <a:endParaRPr lang="en-US" sz="2300" dirty="0">
              <a:latin typeface="+mn-lt"/>
            </a:endParaRPr>
          </a:p>
          <a:p>
            <a:endParaRPr lang="en-US" sz="2400" dirty="0">
              <a:latin typeface="+mn-lt"/>
            </a:endParaRPr>
          </a:p>
          <a:p>
            <a:endParaRPr lang="en-US" sz="2400" dirty="0">
              <a:latin typeface="+mn-lt"/>
            </a:endParaRPr>
          </a:p>
          <a:p>
            <a:pPr algn="ctr"/>
            <a:endParaRPr lang="en-US" sz="3600" b="1" dirty="0"/>
          </a:p>
        </p:txBody>
      </p:sp>
      <p:sp>
        <p:nvSpPr>
          <p:cNvPr id="29" name="Text Box 7"/>
          <p:cNvSpPr txBox="1">
            <a:spLocks noChangeArrowheads="1"/>
          </p:cNvSpPr>
          <p:nvPr/>
        </p:nvSpPr>
        <p:spPr bwMode="auto">
          <a:xfrm>
            <a:off x="2647619" y="403405"/>
            <a:ext cx="27623162" cy="2738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7864" tIns="28932" rIns="57864" bIns="28932">
            <a:spAutoFit/>
          </a:bodyPr>
          <a:lstStyle>
            <a:lvl1pPr defTabSz="3343275">
              <a:defRPr>
                <a:solidFill>
                  <a:schemeClr val="tx1"/>
                </a:solidFill>
                <a:latin typeface="Arial" charset="0"/>
              </a:defRPr>
            </a:lvl1pPr>
            <a:lvl2pPr defTabSz="3343275">
              <a:defRPr>
                <a:solidFill>
                  <a:schemeClr val="tx1"/>
                </a:solidFill>
                <a:latin typeface="Arial" charset="0"/>
              </a:defRPr>
            </a:lvl2pPr>
            <a:lvl3pPr defTabSz="3343275">
              <a:defRPr>
                <a:solidFill>
                  <a:schemeClr val="tx1"/>
                </a:solidFill>
                <a:latin typeface="Arial" charset="0"/>
              </a:defRPr>
            </a:lvl3pPr>
            <a:lvl4pPr defTabSz="3343275">
              <a:defRPr>
                <a:solidFill>
                  <a:schemeClr val="tx1"/>
                </a:solidFill>
                <a:latin typeface="Arial" charset="0"/>
              </a:defRPr>
            </a:lvl4pPr>
            <a:lvl5pPr defTabSz="3343275">
              <a:defRPr>
                <a:solidFill>
                  <a:schemeClr val="tx1"/>
                </a:solidFill>
                <a:latin typeface="Arial" charset="0"/>
              </a:defRPr>
            </a:lvl5pPr>
            <a:lvl6pPr defTabSz="3343275" fontAlgn="base">
              <a:spcBef>
                <a:spcPct val="0"/>
              </a:spcBef>
              <a:spcAft>
                <a:spcPct val="0"/>
              </a:spcAft>
              <a:defRPr>
                <a:solidFill>
                  <a:schemeClr val="tx1"/>
                </a:solidFill>
                <a:latin typeface="Arial" charset="0"/>
              </a:defRPr>
            </a:lvl6pPr>
            <a:lvl7pPr defTabSz="3343275" fontAlgn="base">
              <a:spcBef>
                <a:spcPct val="0"/>
              </a:spcBef>
              <a:spcAft>
                <a:spcPct val="0"/>
              </a:spcAft>
              <a:defRPr>
                <a:solidFill>
                  <a:schemeClr val="tx1"/>
                </a:solidFill>
                <a:latin typeface="Arial" charset="0"/>
              </a:defRPr>
            </a:lvl7pPr>
            <a:lvl8pPr defTabSz="3343275" fontAlgn="base">
              <a:spcBef>
                <a:spcPct val="0"/>
              </a:spcBef>
              <a:spcAft>
                <a:spcPct val="0"/>
              </a:spcAft>
              <a:defRPr>
                <a:solidFill>
                  <a:schemeClr val="tx1"/>
                </a:solidFill>
                <a:latin typeface="Arial" charset="0"/>
              </a:defRPr>
            </a:lvl8pPr>
            <a:lvl9pPr defTabSz="3343275" fontAlgn="base">
              <a:spcBef>
                <a:spcPct val="0"/>
              </a:spcBef>
              <a:spcAft>
                <a:spcPct val="0"/>
              </a:spcAft>
              <a:defRPr>
                <a:solidFill>
                  <a:schemeClr val="tx1"/>
                </a:solidFill>
                <a:latin typeface="Arial" charset="0"/>
              </a:defRPr>
            </a:lvl9pPr>
          </a:lstStyle>
          <a:p>
            <a:pPr algn="ctr"/>
            <a:r>
              <a:rPr lang="en-US" sz="4400" b="1" dirty="0"/>
              <a:t>HERMES: A High-precision Enhanced Road-Mapper </a:t>
            </a:r>
          </a:p>
          <a:p>
            <a:pPr algn="ctr"/>
            <a:r>
              <a:rPr lang="en-US" sz="4400" b="1" dirty="0"/>
              <a:t>with Embedded CV Systems</a:t>
            </a:r>
            <a:endParaRPr lang="en-US" sz="2800" b="1" dirty="0"/>
          </a:p>
          <a:p>
            <a:pPr algn="ctr"/>
            <a:r>
              <a:rPr lang="en-US" sz="3200" b="1" dirty="0"/>
              <a:t>Arnav Prabhudesai</a:t>
            </a:r>
          </a:p>
          <a:p>
            <a:pPr algn="ctr"/>
            <a:r>
              <a:rPr lang="en-US" sz="3200" b="1" dirty="0"/>
              <a:t>Advisor: Dr. Crowthers</a:t>
            </a:r>
          </a:p>
          <a:p>
            <a:pPr algn="ctr"/>
            <a:endParaRPr lang="en-US" sz="2218"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0876" y="-262313"/>
            <a:ext cx="5101124" cy="3941776"/>
          </a:xfrm>
          <a:prstGeom prst="rect">
            <a:avLst/>
          </a:prstGeom>
        </p:spPr>
      </p:pic>
      <p:pic>
        <p:nvPicPr>
          <p:cNvPr id="1030" name="Picture 6">
            <a:extLst>
              <a:ext uri="{FF2B5EF4-FFF2-40B4-BE49-F238E27FC236}">
                <a16:creationId xmlns:a16="http://schemas.microsoft.com/office/drawing/2014/main" id="{012B5367-F42B-5BAF-756A-84AF64A711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13119" y="71410"/>
            <a:ext cx="3224405" cy="322440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23FA058-51C3-E499-7225-719EF4467E04}"/>
              </a:ext>
            </a:extLst>
          </p:cNvPr>
          <p:cNvPicPr>
            <a:picLocks noChangeAspect="1"/>
          </p:cNvPicPr>
          <p:nvPr/>
        </p:nvPicPr>
        <p:blipFill>
          <a:blip r:embed="rId5"/>
          <a:stretch>
            <a:fillRect/>
          </a:stretch>
        </p:blipFill>
        <p:spPr>
          <a:xfrm>
            <a:off x="13057021" y="6915907"/>
            <a:ext cx="6540705" cy="4056893"/>
          </a:xfrm>
          <a:prstGeom prst="rect">
            <a:avLst/>
          </a:prstGeom>
        </p:spPr>
      </p:pic>
      <p:sp>
        <p:nvSpPr>
          <p:cNvPr id="30" name="AutoShape 17">
            <a:extLst>
              <a:ext uri="{FF2B5EF4-FFF2-40B4-BE49-F238E27FC236}">
                <a16:creationId xmlns:a16="http://schemas.microsoft.com/office/drawing/2014/main" id="{E68CDBE5-16D1-930A-90FB-08C4AA96932A}"/>
              </a:ext>
            </a:extLst>
          </p:cNvPr>
          <p:cNvSpPr>
            <a:spLocks noChangeArrowheads="1"/>
          </p:cNvSpPr>
          <p:nvPr/>
        </p:nvSpPr>
        <p:spPr bwMode="auto">
          <a:xfrm>
            <a:off x="11658600" y="3729635"/>
            <a:ext cx="4708068" cy="2671165"/>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28932" anchor="t"/>
          <a:lstStyle/>
          <a:p>
            <a:pPr algn="ctr"/>
            <a:r>
              <a:rPr lang="en-US" sz="3600" b="1" dirty="0">
                <a:latin typeface="Cambria" panose="02040503050406030204" pitchFamily="18" charset="0"/>
                <a:ea typeface="Cambria" panose="02040503050406030204" pitchFamily="18" charset="0"/>
              </a:rPr>
              <a:t>Problem</a:t>
            </a:r>
          </a:p>
          <a:p>
            <a:r>
              <a:rPr lang="en-US" sz="2400" dirty="0">
                <a:latin typeface="+mn-lt"/>
              </a:rPr>
              <a:t>Online mapping often uses expensive, inaccurate and slow methods, resulting in maps that are not frequently updated with current data.</a:t>
            </a:r>
            <a:r>
              <a:rPr lang="en-US" sz="2400" b="1" dirty="0">
                <a:latin typeface="+mn-lt"/>
              </a:rPr>
              <a:t> </a:t>
            </a:r>
            <a:endParaRPr lang="en-US" sz="2400" dirty="0">
              <a:latin typeface="+mn-lt"/>
            </a:endParaRPr>
          </a:p>
          <a:p>
            <a:pPr algn="ctr"/>
            <a:endParaRPr lang="en-US" sz="3600" b="1" dirty="0">
              <a:latin typeface="Cambria" panose="02040503050406030204" pitchFamily="18" charset="0"/>
              <a:ea typeface="Cambria" panose="02040503050406030204" pitchFamily="18" charset="0"/>
            </a:endParaRPr>
          </a:p>
          <a:p>
            <a:pPr algn="ctr"/>
            <a:endParaRPr lang="en-US" sz="2400" b="1" dirty="0">
              <a:latin typeface="Cambria" panose="02040503050406030204" pitchFamily="18" charset="0"/>
              <a:ea typeface="Cambria" panose="02040503050406030204" pitchFamily="18" charset="0"/>
            </a:endParaRPr>
          </a:p>
        </p:txBody>
      </p:sp>
      <p:sp>
        <p:nvSpPr>
          <p:cNvPr id="31" name="AutoShape 17">
            <a:extLst>
              <a:ext uri="{FF2B5EF4-FFF2-40B4-BE49-F238E27FC236}">
                <a16:creationId xmlns:a16="http://schemas.microsoft.com/office/drawing/2014/main" id="{D0A22A98-EE3A-5543-EC40-1EBEFF48382B}"/>
              </a:ext>
            </a:extLst>
          </p:cNvPr>
          <p:cNvSpPr>
            <a:spLocks noChangeArrowheads="1"/>
          </p:cNvSpPr>
          <p:nvPr/>
        </p:nvSpPr>
        <p:spPr bwMode="auto">
          <a:xfrm>
            <a:off x="16630650" y="3761567"/>
            <a:ext cx="4708068" cy="2671165"/>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28932" anchor="t"/>
          <a:lstStyle/>
          <a:p>
            <a:pPr algn="ctr"/>
            <a:r>
              <a:rPr lang="en-US" sz="3600" b="1" dirty="0">
                <a:latin typeface="Cambria" panose="02040503050406030204" pitchFamily="18" charset="0"/>
                <a:ea typeface="Cambria" panose="02040503050406030204" pitchFamily="18" charset="0"/>
              </a:rPr>
              <a:t>Objective</a:t>
            </a:r>
          </a:p>
          <a:p>
            <a:r>
              <a:rPr lang="en-US" sz="2300" dirty="0">
                <a:latin typeface="+mn-lt"/>
              </a:rPr>
              <a:t>The aim of this project is to build a drone that can autonomously map a road system using a CV model that works in many different conditions. </a:t>
            </a:r>
            <a:endParaRPr lang="en-US" sz="2300" b="1" dirty="0">
              <a:latin typeface="Cambria" panose="02040503050406030204" pitchFamily="18" charset="0"/>
              <a:ea typeface="Cambria" panose="02040503050406030204" pitchFamily="18" charset="0"/>
            </a:endParaRPr>
          </a:p>
          <a:p>
            <a:pPr algn="ctr"/>
            <a:endParaRPr lang="en-US" sz="2400" b="1" dirty="0">
              <a:latin typeface="Cambria" panose="02040503050406030204" pitchFamily="18" charset="0"/>
              <a:ea typeface="Cambria" panose="02040503050406030204" pitchFamily="18" charset="0"/>
            </a:endParaRPr>
          </a:p>
        </p:txBody>
      </p:sp>
      <p:sp>
        <p:nvSpPr>
          <p:cNvPr id="32" name="AutoShape 20">
            <a:extLst>
              <a:ext uri="{FF2B5EF4-FFF2-40B4-BE49-F238E27FC236}">
                <a16:creationId xmlns:a16="http://schemas.microsoft.com/office/drawing/2014/main" id="{07D11BA0-05CE-5144-8C5A-7F7768D887AD}"/>
              </a:ext>
            </a:extLst>
          </p:cNvPr>
          <p:cNvSpPr>
            <a:spLocks noChangeArrowheads="1"/>
          </p:cNvSpPr>
          <p:nvPr/>
        </p:nvSpPr>
        <p:spPr bwMode="auto">
          <a:xfrm>
            <a:off x="545699" y="15924891"/>
            <a:ext cx="10604376" cy="5851114"/>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91440" rIns="274320" bIns="182880" anchor="t"/>
          <a:lstStyle/>
          <a:p>
            <a:pPr algn="ctr"/>
            <a:r>
              <a:rPr lang="en-US" sz="3600" b="1" dirty="0">
                <a:latin typeface="Cambria" panose="02040503050406030204" pitchFamily="18" charset="0"/>
                <a:ea typeface="Cambria" panose="02040503050406030204" pitchFamily="18" charset="0"/>
              </a:rPr>
              <a:t>Camera Vision Methods</a:t>
            </a:r>
          </a:p>
          <a:p>
            <a:r>
              <a:rPr lang="en-US" sz="2300" dirty="0">
                <a:latin typeface="+mn-lt"/>
              </a:rPr>
              <a:t>There are two main strategies to accomplish this. </a:t>
            </a:r>
          </a:p>
          <a:p>
            <a:pPr marL="285750" indent="-285750">
              <a:buFont typeface="Arial" panose="020B0604020202020204" pitchFamily="34" charset="0"/>
              <a:buChar char="•"/>
            </a:pPr>
            <a:r>
              <a:rPr lang="en-US" sz="2300" dirty="0">
                <a:latin typeface="+mn-lt"/>
              </a:rPr>
              <a:t>The first strategy, using a bounding box, involves finding the color of the road manually. After that, the camera will filter for this color and draw a box around the area with the most of this color.</a:t>
            </a:r>
          </a:p>
          <a:p>
            <a:pPr marL="285750" indent="-285750">
              <a:buFont typeface="Arial" panose="020B0604020202020204" pitchFamily="34" charset="0"/>
              <a:buChar char="•"/>
            </a:pPr>
            <a:r>
              <a:rPr lang="en-US" sz="2300" dirty="0">
                <a:latin typeface="+mn-lt"/>
              </a:rPr>
              <a:t>It is also possible to use image classification, which involves using an AI model to classify the different things it sees in the image, such as a tree, a mailbox, or in this case, a road.  </a:t>
            </a:r>
          </a:p>
          <a:p>
            <a:pPr marL="285750" indent="-285750">
              <a:buFont typeface="Arial" panose="020B0604020202020204" pitchFamily="34" charset="0"/>
              <a:buChar char="•"/>
            </a:pPr>
            <a:r>
              <a:rPr lang="en-US" sz="2300" dirty="0">
                <a:latin typeface="+mn-lt"/>
              </a:rPr>
              <a:t>In addition, the strategy of image classification can be divided into using a custom neural network, made with a framework like YOLO, or a premade generic neural network. </a:t>
            </a:r>
          </a:p>
          <a:p>
            <a:pPr marL="285750" indent="-285750">
              <a:buFont typeface="Arial" panose="020B0604020202020204" pitchFamily="34" charset="0"/>
              <a:buChar char="•"/>
            </a:pPr>
            <a:r>
              <a:rPr lang="en-US" sz="2300" dirty="0">
                <a:latin typeface="+mn-lt"/>
              </a:rPr>
              <a:t>Premade neural networks are much easier to implement, as they do not require training, which is a long process. </a:t>
            </a:r>
          </a:p>
          <a:p>
            <a:pPr marL="285750" indent="-285750">
              <a:buFont typeface="Arial" panose="020B0604020202020204" pitchFamily="34" charset="0"/>
              <a:buChar char="•"/>
            </a:pPr>
            <a:r>
              <a:rPr lang="en-US" sz="2300" dirty="0">
                <a:latin typeface="+mn-lt"/>
              </a:rPr>
              <a:t>Custom-made models require much less computational power and device storage space.</a:t>
            </a:r>
          </a:p>
          <a:p>
            <a:pPr marL="285750" indent="-285750">
              <a:buFont typeface="Arial" panose="020B0604020202020204" pitchFamily="34" charset="0"/>
              <a:buChar char="•"/>
            </a:pPr>
            <a:endParaRPr lang="en-US" sz="2400" dirty="0">
              <a:latin typeface="+mn-lt"/>
            </a:endParaRPr>
          </a:p>
        </p:txBody>
      </p:sp>
      <p:sp>
        <p:nvSpPr>
          <p:cNvPr id="33" name="AutoShape 32">
            <a:extLst>
              <a:ext uri="{FF2B5EF4-FFF2-40B4-BE49-F238E27FC236}">
                <a16:creationId xmlns:a16="http://schemas.microsoft.com/office/drawing/2014/main" id="{2D62AEC7-07AF-6694-D20D-E7690653CB34}"/>
              </a:ext>
            </a:extLst>
          </p:cNvPr>
          <p:cNvSpPr>
            <a:spLocks noChangeArrowheads="1"/>
          </p:cNvSpPr>
          <p:nvPr/>
        </p:nvSpPr>
        <p:spPr bwMode="auto">
          <a:xfrm>
            <a:off x="11575758" y="11263572"/>
            <a:ext cx="9762959" cy="4770484"/>
          </a:xfrm>
          <a:prstGeom prst="rect">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tIns="28932" rIns="274320" bIns="28932" anchor="t"/>
          <a:lstStyle/>
          <a:p>
            <a:pPr algn="ctr"/>
            <a:endParaRPr lang="en-US" sz="2122" dirty="0">
              <a:latin typeface="+mn-lt"/>
            </a:endParaRPr>
          </a:p>
          <a:p>
            <a:pPr algn="ctr"/>
            <a:endParaRPr lang="en-US" sz="2122"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pPr algn="ctr"/>
            <a:endParaRPr lang="en-US" sz="2300" dirty="0">
              <a:latin typeface="+mn-lt"/>
            </a:endParaRPr>
          </a:p>
          <a:p>
            <a:r>
              <a:rPr lang="en-US" sz="2300" dirty="0">
                <a:latin typeface="+mn-lt"/>
              </a:rPr>
              <a:t>Successful implementation of a color-based bounding box on a segment of road. Notably, the model is able to identify the location on direction of the road. However, the model is also confused by the presence of a sidewalk, which is the same color as the road.</a:t>
            </a:r>
          </a:p>
        </p:txBody>
      </p:sp>
      <p:pic>
        <p:nvPicPr>
          <p:cNvPr id="35" name="Picture 34" descr="A screenshot of a computer screen&#10;&#10;AI-generated content may be incorrect.">
            <a:extLst>
              <a:ext uri="{FF2B5EF4-FFF2-40B4-BE49-F238E27FC236}">
                <a16:creationId xmlns:a16="http://schemas.microsoft.com/office/drawing/2014/main" id="{DC25D858-E5FC-5B0B-1537-26C64E1BACCC}"/>
              </a:ext>
            </a:extLst>
          </p:cNvPr>
          <p:cNvPicPr>
            <a:picLocks noChangeAspect="1"/>
          </p:cNvPicPr>
          <p:nvPr/>
        </p:nvPicPr>
        <p:blipFill>
          <a:blip r:embed="rId6"/>
          <a:srcRect l="4400" t="5431" r="20794" b="64175"/>
          <a:stretch>
            <a:fillRect/>
          </a:stretch>
        </p:blipFill>
        <p:spPr>
          <a:xfrm>
            <a:off x="11825970" y="11625645"/>
            <a:ext cx="4443351" cy="2495485"/>
          </a:xfrm>
          <a:prstGeom prst="rect">
            <a:avLst/>
          </a:prstGeom>
        </p:spPr>
      </p:pic>
      <p:pic>
        <p:nvPicPr>
          <p:cNvPr id="36" name="Picture 35" descr="A screenshot of a computer screen&#10;&#10;AI-generated content may be incorrect.">
            <a:extLst>
              <a:ext uri="{FF2B5EF4-FFF2-40B4-BE49-F238E27FC236}">
                <a16:creationId xmlns:a16="http://schemas.microsoft.com/office/drawing/2014/main" id="{6DC7DA63-7B25-A492-B2C4-9BE2D0DA4FE8}"/>
              </a:ext>
            </a:extLst>
          </p:cNvPr>
          <p:cNvPicPr>
            <a:picLocks noChangeAspect="1"/>
          </p:cNvPicPr>
          <p:nvPr/>
        </p:nvPicPr>
        <p:blipFill>
          <a:blip r:embed="rId6"/>
          <a:srcRect l="21045" t="63030" r="6223" b="6812"/>
          <a:stretch>
            <a:fillRect/>
          </a:stretch>
        </p:blipFill>
        <p:spPr>
          <a:xfrm>
            <a:off x="16649081" y="11613531"/>
            <a:ext cx="4374926" cy="2507599"/>
          </a:xfrm>
          <a:prstGeom prst="rect">
            <a:avLst/>
          </a:prstGeom>
        </p:spPr>
      </p:pic>
      <p:pic>
        <p:nvPicPr>
          <p:cNvPr id="42" name="Picture 41" descr="A green road with yellow lines&#10;&#10;AI-generated content may be incorrect.">
            <a:extLst>
              <a:ext uri="{FF2B5EF4-FFF2-40B4-BE49-F238E27FC236}">
                <a16:creationId xmlns:a16="http://schemas.microsoft.com/office/drawing/2014/main" id="{6F971B96-9138-7010-735E-8764812F3502}"/>
              </a:ext>
            </a:extLst>
          </p:cNvPr>
          <p:cNvPicPr>
            <a:picLocks noChangeAspect="1"/>
          </p:cNvPicPr>
          <p:nvPr/>
        </p:nvPicPr>
        <p:blipFill>
          <a:blip r:embed="rId7"/>
          <a:stretch>
            <a:fillRect/>
          </a:stretch>
        </p:blipFill>
        <p:spPr>
          <a:xfrm>
            <a:off x="16752570" y="16583279"/>
            <a:ext cx="4107145" cy="2735358"/>
          </a:xfrm>
          <a:prstGeom prst="rect">
            <a:avLst/>
          </a:prstGeom>
        </p:spPr>
      </p:pic>
      <p:pic>
        <p:nvPicPr>
          <p:cNvPr id="44" name="Picture 43" descr="A white light in a black background&#10;&#10;AI-generated content may be incorrect.">
            <a:extLst>
              <a:ext uri="{FF2B5EF4-FFF2-40B4-BE49-F238E27FC236}">
                <a16:creationId xmlns:a16="http://schemas.microsoft.com/office/drawing/2014/main" id="{6E69420C-FB4D-5596-0C69-C0050B3D2B14}"/>
              </a:ext>
            </a:extLst>
          </p:cNvPr>
          <p:cNvPicPr>
            <a:picLocks noChangeAspect="1"/>
          </p:cNvPicPr>
          <p:nvPr/>
        </p:nvPicPr>
        <p:blipFill>
          <a:blip r:embed="rId8"/>
          <a:stretch>
            <a:fillRect/>
          </a:stretch>
        </p:blipFill>
        <p:spPr>
          <a:xfrm>
            <a:off x="11980453" y="16583278"/>
            <a:ext cx="4107146" cy="2735359"/>
          </a:xfrm>
          <a:prstGeom prst="rect">
            <a:avLst/>
          </a:prstGeom>
        </p:spPr>
      </p:pic>
      <p:graphicFrame>
        <p:nvGraphicFramePr>
          <p:cNvPr id="3" name="Table 2">
            <a:extLst>
              <a:ext uri="{FF2B5EF4-FFF2-40B4-BE49-F238E27FC236}">
                <a16:creationId xmlns:a16="http://schemas.microsoft.com/office/drawing/2014/main" id="{BA35303C-A9EF-6B70-A2C4-C8E72B73D93B}"/>
              </a:ext>
            </a:extLst>
          </p:cNvPr>
          <p:cNvGraphicFramePr>
            <a:graphicFrameLocks noGrp="1"/>
          </p:cNvGraphicFramePr>
          <p:nvPr>
            <p:extLst>
              <p:ext uri="{D42A27DB-BD31-4B8C-83A1-F6EECF244321}">
                <p14:modId xmlns:p14="http://schemas.microsoft.com/office/powerpoint/2010/main" val="1173387537"/>
              </p:ext>
            </p:extLst>
          </p:nvPr>
        </p:nvGraphicFramePr>
        <p:xfrm>
          <a:off x="22565238" y="12750100"/>
          <a:ext cx="8890545" cy="3657600"/>
        </p:xfrm>
        <a:graphic>
          <a:graphicData uri="http://schemas.openxmlformats.org/drawingml/2006/table">
            <a:tbl>
              <a:tblPr/>
              <a:tblGrid>
                <a:gridCol w="1778109">
                  <a:extLst>
                    <a:ext uri="{9D8B030D-6E8A-4147-A177-3AD203B41FA5}">
                      <a16:colId xmlns:a16="http://schemas.microsoft.com/office/drawing/2014/main" val="2687357382"/>
                    </a:ext>
                  </a:extLst>
                </a:gridCol>
                <a:gridCol w="1778109">
                  <a:extLst>
                    <a:ext uri="{9D8B030D-6E8A-4147-A177-3AD203B41FA5}">
                      <a16:colId xmlns:a16="http://schemas.microsoft.com/office/drawing/2014/main" val="1763111372"/>
                    </a:ext>
                  </a:extLst>
                </a:gridCol>
                <a:gridCol w="1778109">
                  <a:extLst>
                    <a:ext uri="{9D8B030D-6E8A-4147-A177-3AD203B41FA5}">
                      <a16:colId xmlns:a16="http://schemas.microsoft.com/office/drawing/2014/main" val="181866196"/>
                    </a:ext>
                  </a:extLst>
                </a:gridCol>
                <a:gridCol w="1778109">
                  <a:extLst>
                    <a:ext uri="{9D8B030D-6E8A-4147-A177-3AD203B41FA5}">
                      <a16:colId xmlns:a16="http://schemas.microsoft.com/office/drawing/2014/main" val="141707753"/>
                    </a:ext>
                  </a:extLst>
                </a:gridCol>
                <a:gridCol w="1778109">
                  <a:extLst>
                    <a:ext uri="{9D8B030D-6E8A-4147-A177-3AD203B41FA5}">
                      <a16:colId xmlns:a16="http://schemas.microsoft.com/office/drawing/2014/main" val="3459461114"/>
                    </a:ext>
                  </a:extLst>
                </a:gridCol>
              </a:tblGrid>
              <a:tr h="582777">
                <a:tc>
                  <a:txBody>
                    <a:bodyPr/>
                    <a:lstStyle/>
                    <a:p>
                      <a:pPr>
                        <a:buNone/>
                      </a:pPr>
                      <a:r>
                        <a:rPr lang="en-US" sz="2400" dirty="0"/>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t>Accuracy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t>Direction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t>Latency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a:t>Total (Weighted)</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7431576"/>
                  </a:ext>
                </a:extLst>
              </a:tr>
              <a:tr h="582777">
                <a:tc>
                  <a:txBody>
                    <a:bodyPr/>
                    <a:lstStyle/>
                    <a:p>
                      <a:pPr>
                        <a:buNone/>
                      </a:pPr>
                      <a:r>
                        <a:rPr lang="en-US" sz="2400" b="1"/>
                        <a:t>Custom YOLO</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136</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0984298"/>
                  </a:ext>
                </a:extLst>
              </a:tr>
              <a:tr h="582777">
                <a:tc>
                  <a:txBody>
                    <a:bodyPr/>
                    <a:lstStyle/>
                    <a:p>
                      <a:pPr>
                        <a:buNone/>
                      </a:pPr>
                      <a:r>
                        <a:rPr lang="en-US" sz="2400" b="1"/>
                        <a:t>Color Bounding Box</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117</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465011"/>
                  </a:ext>
                </a:extLst>
              </a:tr>
              <a:tr h="582777">
                <a:tc>
                  <a:txBody>
                    <a:bodyPr/>
                    <a:lstStyle/>
                    <a:p>
                      <a:pPr>
                        <a:buNone/>
                      </a:pPr>
                      <a:r>
                        <a:rPr lang="en-US" sz="2400" b="1"/>
                        <a:t>Pretrained YOLO</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dirty="0"/>
                        <a:t>61</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5419352"/>
                  </a:ext>
                </a:extLst>
              </a:tr>
            </a:tbl>
          </a:graphicData>
        </a:graphic>
      </p:graphicFrame>
    </p:spTree>
    <p:extLst>
      <p:ext uri="{BB962C8B-B14F-4D97-AF65-F5344CB8AC3E}">
        <p14:creationId xmlns:p14="http://schemas.microsoft.com/office/powerpoint/2010/main" val="2702103839"/>
      </p:ext>
    </p:extLst>
  </p:cSld>
  <p:clrMapOvr>
    <a:masterClrMapping/>
  </p:clrMapOvr>
</p:sld>
</file>

<file path=ppt/theme/theme1.xml><?xml version="1.0" encoding="utf-8"?>
<a:theme xmlns:a="http://schemas.openxmlformats.org/drawingml/2006/main" name="wpi_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1108</TotalTime>
  <Words>1068</Words>
  <Application>Microsoft Office PowerPoint</Application>
  <PresentationFormat>Custom</PresentationFormat>
  <Paragraphs>88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wpi_ppt</vt:lpstr>
      <vt:lpstr>PowerPoint Presentation</vt:lpstr>
    </vt:vector>
  </TitlesOfParts>
  <Company>Worcester Polytechnic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WPI;ATC</dc:creator>
  <cp:lastModifiedBy>Prabhudesai, Arnav</cp:lastModifiedBy>
  <cp:revision>48</cp:revision>
  <dcterms:created xsi:type="dcterms:W3CDTF">2009-11-05T19:41:53Z</dcterms:created>
  <dcterms:modified xsi:type="dcterms:W3CDTF">2025-12-08T01:55:35Z</dcterms:modified>
</cp:coreProperties>
</file>